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19"/>
  </p:notesMasterIdLst>
  <p:sldIdLst>
    <p:sldId id="290" r:id="rId5"/>
    <p:sldId id="266" r:id="rId6"/>
    <p:sldId id="267" r:id="rId7"/>
    <p:sldId id="280" r:id="rId8"/>
    <p:sldId id="291" r:id="rId9"/>
    <p:sldId id="277" r:id="rId10"/>
    <p:sldId id="278" r:id="rId11"/>
    <p:sldId id="279" r:id="rId12"/>
    <p:sldId id="288" r:id="rId13"/>
    <p:sldId id="281" r:id="rId14"/>
    <p:sldId id="282" r:id="rId15"/>
    <p:sldId id="284" r:id="rId16"/>
    <p:sldId id="286" r:id="rId17"/>
    <p:sldId id="28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412CBD-0295-4AFF-96AC-CB2743B63AB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B2D05AF-4AB8-4B17-8EAE-FF41F4848328}">
      <dgm:prSet/>
      <dgm:spPr/>
      <dgm:t>
        <a:bodyPr/>
        <a:lstStyle/>
        <a:p>
          <a:r>
            <a:rPr lang="it-IT"/>
            <a:t>ROS</a:t>
          </a:r>
          <a:endParaRPr lang="en-US"/>
        </a:p>
      </dgm:t>
    </dgm:pt>
    <dgm:pt modelId="{18862D22-D6C2-4C16-BE1C-B10BF0CF96DA}" type="parTrans" cxnId="{F0F746DC-F569-48AA-8DF9-AF96DD3B71E2}">
      <dgm:prSet/>
      <dgm:spPr/>
      <dgm:t>
        <a:bodyPr/>
        <a:lstStyle/>
        <a:p>
          <a:endParaRPr lang="en-US"/>
        </a:p>
      </dgm:t>
    </dgm:pt>
    <dgm:pt modelId="{0E3A1559-6858-428B-A763-DF8D5815EEA4}" type="sibTrans" cxnId="{F0F746DC-F569-48AA-8DF9-AF96DD3B71E2}">
      <dgm:prSet/>
      <dgm:spPr/>
      <dgm:t>
        <a:bodyPr/>
        <a:lstStyle/>
        <a:p>
          <a:endParaRPr lang="en-US"/>
        </a:p>
      </dgm:t>
    </dgm:pt>
    <dgm:pt modelId="{D98A175E-F843-4F96-BC2A-0114196DAA46}">
      <dgm:prSet/>
      <dgm:spPr/>
      <dgm:t>
        <a:bodyPr/>
        <a:lstStyle/>
        <a:p>
          <a:r>
            <a:rPr lang="it-IT" err="1"/>
            <a:t>Choregraphe</a:t>
          </a:r>
          <a:endParaRPr lang="en-US"/>
        </a:p>
      </dgm:t>
    </dgm:pt>
    <dgm:pt modelId="{F5834000-FD61-42F7-9EC3-CC23FE63C271}" type="parTrans" cxnId="{ABF028D5-8C85-4DB1-9F4C-68627399C2E4}">
      <dgm:prSet/>
      <dgm:spPr/>
      <dgm:t>
        <a:bodyPr/>
        <a:lstStyle/>
        <a:p>
          <a:endParaRPr lang="en-US"/>
        </a:p>
      </dgm:t>
    </dgm:pt>
    <dgm:pt modelId="{B68F3009-0013-40FF-B9AD-744ADFBEA180}" type="sibTrans" cxnId="{ABF028D5-8C85-4DB1-9F4C-68627399C2E4}">
      <dgm:prSet/>
      <dgm:spPr/>
      <dgm:t>
        <a:bodyPr/>
        <a:lstStyle/>
        <a:p>
          <a:endParaRPr lang="en-US"/>
        </a:p>
      </dgm:t>
    </dgm:pt>
    <dgm:pt modelId="{E793164C-0312-4112-9D89-9500C6F13519}">
      <dgm:prSet/>
      <dgm:spPr/>
      <dgm:t>
        <a:bodyPr/>
        <a:lstStyle/>
        <a:p>
          <a:r>
            <a:rPr lang="it-IT"/>
            <a:t>Python </a:t>
          </a:r>
          <a:br>
            <a:rPr lang="it-IT"/>
          </a:br>
          <a:r>
            <a:rPr lang="it-IT"/>
            <a:t>C++</a:t>
          </a:r>
          <a:endParaRPr lang="en-US"/>
        </a:p>
      </dgm:t>
    </dgm:pt>
    <dgm:pt modelId="{80A6AB86-FA58-4DAB-A6E1-A7AA1A5F865D}" type="sibTrans" cxnId="{E4BC7086-EFC0-4416-A4A9-8F01BB865F9A}">
      <dgm:prSet/>
      <dgm:spPr/>
      <dgm:t>
        <a:bodyPr/>
        <a:lstStyle/>
        <a:p>
          <a:endParaRPr lang="en-US"/>
        </a:p>
      </dgm:t>
    </dgm:pt>
    <dgm:pt modelId="{6B7F2708-1667-4815-965E-F94358B78A08}" type="parTrans" cxnId="{E4BC7086-EFC0-4416-A4A9-8F01BB865F9A}">
      <dgm:prSet/>
      <dgm:spPr/>
      <dgm:t>
        <a:bodyPr/>
        <a:lstStyle/>
        <a:p>
          <a:endParaRPr lang="en-US"/>
        </a:p>
      </dgm:t>
    </dgm:pt>
    <dgm:pt modelId="{6F2D1E95-833B-4C3C-B9ED-8B5FBFCBC7CC}" type="pres">
      <dgm:prSet presAssocID="{44412CBD-0295-4AFF-96AC-CB2743B63AB3}" presName="root" presStyleCnt="0">
        <dgm:presLayoutVars>
          <dgm:dir/>
          <dgm:resizeHandles val="exact"/>
        </dgm:presLayoutVars>
      </dgm:prSet>
      <dgm:spPr/>
    </dgm:pt>
    <dgm:pt modelId="{98FA55FC-1326-4C7D-9F57-5814BF3B5117}" type="pres">
      <dgm:prSet presAssocID="{6B2D05AF-4AB8-4B17-8EAE-FF41F4848328}" presName="compNode" presStyleCnt="0"/>
      <dgm:spPr/>
    </dgm:pt>
    <dgm:pt modelId="{37A9265D-1CB7-4B0D-9263-E7326EFDA228}" type="pres">
      <dgm:prSet presAssocID="{6B2D05AF-4AB8-4B17-8EAE-FF41F484832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8E0D9E14-8669-421A-B704-85F5C792F268}" type="pres">
      <dgm:prSet presAssocID="{6B2D05AF-4AB8-4B17-8EAE-FF41F4848328}" presName="spaceRect" presStyleCnt="0"/>
      <dgm:spPr/>
    </dgm:pt>
    <dgm:pt modelId="{8C86FB78-D66E-428F-92DD-AA7037B9C1D6}" type="pres">
      <dgm:prSet presAssocID="{6B2D05AF-4AB8-4B17-8EAE-FF41F4848328}" presName="textRect" presStyleLbl="revTx" presStyleIdx="0" presStyleCnt="3">
        <dgm:presLayoutVars>
          <dgm:chMax val="1"/>
          <dgm:chPref val="1"/>
        </dgm:presLayoutVars>
      </dgm:prSet>
      <dgm:spPr/>
    </dgm:pt>
    <dgm:pt modelId="{3E0F403F-5FD7-44FA-9696-B564668E705E}" type="pres">
      <dgm:prSet presAssocID="{0E3A1559-6858-428B-A763-DF8D5815EEA4}" presName="sibTrans" presStyleCnt="0"/>
      <dgm:spPr/>
    </dgm:pt>
    <dgm:pt modelId="{0A5E1274-169C-4923-9EFD-D33CEA039B98}" type="pres">
      <dgm:prSet presAssocID="{D98A175E-F843-4F96-BC2A-0114196DAA46}" presName="compNode" presStyleCnt="0"/>
      <dgm:spPr/>
    </dgm:pt>
    <dgm:pt modelId="{6A7C34D4-AEA4-456A-AA99-CCA94B18B834}" type="pres">
      <dgm:prSet presAssocID="{D98A175E-F843-4F96-BC2A-0114196DAA4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C595D7D-7929-4DA4-8D01-6EDB818F4577}" type="pres">
      <dgm:prSet presAssocID="{D98A175E-F843-4F96-BC2A-0114196DAA46}" presName="spaceRect" presStyleCnt="0"/>
      <dgm:spPr/>
    </dgm:pt>
    <dgm:pt modelId="{210949FE-DA15-4154-9214-0F8DFEB7F7BC}" type="pres">
      <dgm:prSet presAssocID="{D98A175E-F843-4F96-BC2A-0114196DAA46}" presName="textRect" presStyleLbl="revTx" presStyleIdx="1" presStyleCnt="3">
        <dgm:presLayoutVars>
          <dgm:chMax val="1"/>
          <dgm:chPref val="1"/>
        </dgm:presLayoutVars>
      </dgm:prSet>
      <dgm:spPr/>
    </dgm:pt>
    <dgm:pt modelId="{D3B3C471-381E-417E-A397-648DDE88E00A}" type="pres">
      <dgm:prSet presAssocID="{B68F3009-0013-40FF-B9AD-744ADFBEA180}" presName="sibTrans" presStyleCnt="0"/>
      <dgm:spPr/>
    </dgm:pt>
    <dgm:pt modelId="{3D410886-3703-4622-83EF-A60B01935761}" type="pres">
      <dgm:prSet presAssocID="{E793164C-0312-4112-9D89-9500C6F13519}" presName="compNode" presStyleCnt="0"/>
      <dgm:spPr/>
    </dgm:pt>
    <dgm:pt modelId="{F5A3A0BD-71AB-45D2-8B57-D4298C9D2E7D}" type="pres">
      <dgm:prSet presAssocID="{E793164C-0312-4112-9D89-9500C6F1351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nake"/>
        </a:ext>
      </dgm:extLst>
    </dgm:pt>
    <dgm:pt modelId="{859668F5-31D8-40EC-B9E0-541BB12D5937}" type="pres">
      <dgm:prSet presAssocID="{E793164C-0312-4112-9D89-9500C6F13519}" presName="spaceRect" presStyleCnt="0"/>
      <dgm:spPr/>
    </dgm:pt>
    <dgm:pt modelId="{C8E25EA1-1649-4849-98DE-88AC5E7102AF}" type="pres">
      <dgm:prSet presAssocID="{E793164C-0312-4112-9D89-9500C6F1351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0B7A101-3050-4526-AF6A-E47E2738159C}" type="presOf" srcId="{44412CBD-0295-4AFF-96AC-CB2743B63AB3}" destId="{6F2D1E95-833B-4C3C-B9ED-8B5FBFCBC7CC}" srcOrd="0" destOrd="0" presId="urn:microsoft.com/office/officeart/2018/2/layout/IconLabelList"/>
    <dgm:cxn modelId="{288D6E27-3F16-43EF-A57E-3600380306C9}" type="presOf" srcId="{6B2D05AF-4AB8-4B17-8EAE-FF41F4848328}" destId="{8C86FB78-D66E-428F-92DD-AA7037B9C1D6}" srcOrd="0" destOrd="0" presId="urn:microsoft.com/office/officeart/2018/2/layout/IconLabelList"/>
    <dgm:cxn modelId="{5B09805C-6BDC-42E6-90B3-F4B18332B27C}" type="presOf" srcId="{E793164C-0312-4112-9D89-9500C6F13519}" destId="{C8E25EA1-1649-4849-98DE-88AC5E7102AF}" srcOrd="0" destOrd="0" presId="urn:microsoft.com/office/officeart/2018/2/layout/IconLabelList"/>
    <dgm:cxn modelId="{E4BC7086-EFC0-4416-A4A9-8F01BB865F9A}" srcId="{44412CBD-0295-4AFF-96AC-CB2743B63AB3}" destId="{E793164C-0312-4112-9D89-9500C6F13519}" srcOrd="2" destOrd="0" parTransId="{6B7F2708-1667-4815-965E-F94358B78A08}" sibTransId="{80A6AB86-FA58-4DAB-A6E1-A7AA1A5F865D}"/>
    <dgm:cxn modelId="{4A02F1B1-A00A-4669-92E6-1AB04D835A2B}" type="presOf" srcId="{D98A175E-F843-4F96-BC2A-0114196DAA46}" destId="{210949FE-DA15-4154-9214-0F8DFEB7F7BC}" srcOrd="0" destOrd="0" presId="urn:microsoft.com/office/officeart/2018/2/layout/IconLabelList"/>
    <dgm:cxn modelId="{ABF028D5-8C85-4DB1-9F4C-68627399C2E4}" srcId="{44412CBD-0295-4AFF-96AC-CB2743B63AB3}" destId="{D98A175E-F843-4F96-BC2A-0114196DAA46}" srcOrd="1" destOrd="0" parTransId="{F5834000-FD61-42F7-9EC3-CC23FE63C271}" sibTransId="{B68F3009-0013-40FF-B9AD-744ADFBEA180}"/>
    <dgm:cxn modelId="{F0F746DC-F569-48AA-8DF9-AF96DD3B71E2}" srcId="{44412CBD-0295-4AFF-96AC-CB2743B63AB3}" destId="{6B2D05AF-4AB8-4B17-8EAE-FF41F4848328}" srcOrd="0" destOrd="0" parTransId="{18862D22-D6C2-4C16-BE1C-B10BF0CF96DA}" sibTransId="{0E3A1559-6858-428B-A763-DF8D5815EEA4}"/>
    <dgm:cxn modelId="{09B2CE12-2C5B-4453-897A-272D96BBD3BA}" type="presParOf" srcId="{6F2D1E95-833B-4C3C-B9ED-8B5FBFCBC7CC}" destId="{98FA55FC-1326-4C7D-9F57-5814BF3B5117}" srcOrd="0" destOrd="0" presId="urn:microsoft.com/office/officeart/2018/2/layout/IconLabelList"/>
    <dgm:cxn modelId="{A1F77CF6-E985-4816-9B7D-07275ECE2412}" type="presParOf" srcId="{98FA55FC-1326-4C7D-9F57-5814BF3B5117}" destId="{37A9265D-1CB7-4B0D-9263-E7326EFDA228}" srcOrd="0" destOrd="0" presId="urn:microsoft.com/office/officeart/2018/2/layout/IconLabelList"/>
    <dgm:cxn modelId="{E23E8ADF-F18F-4541-9FC1-C73477C62883}" type="presParOf" srcId="{98FA55FC-1326-4C7D-9F57-5814BF3B5117}" destId="{8E0D9E14-8669-421A-B704-85F5C792F268}" srcOrd="1" destOrd="0" presId="urn:microsoft.com/office/officeart/2018/2/layout/IconLabelList"/>
    <dgm:cxn modelId="{EAFD1872-696C-426F-96C2-C4F82B8948C4}" type="presParOf" srcId="{98FA55FC-1326-4C7D-9F57-5814BF3B5117}" destId="{8C86FB78-D66E-428F-92DD-AA7037B9C1D6}" srcOrd="2" destOrd="0" presId="urn:microsoft.com/office/officeart/2018/2/layout/IconLabelList"/>
    <dgm:cxn modelId="{9E93E79C-2351-418B-94A8-F8DE04879719}" type="presParOf" srcId="{6F2D1E95-833B-4C3C-B9ED-8B5FBFCBC7CC}" destId="{3E0F403F-5FD7-44FA-9696-B564668E705E}" srcOrd="1" destOrd="0" presId="urn:microsoft.com/office/officeart/2018/2/layout/IconLabelList"/>
    <dgm:cxn modelId="{3807BEBA-E567-4E29-A230-AF73063D4894}" type="presParOf" srcId="{6F2D1E95-833B-4C3C-B9ED-8B5FBFCBC7CC}" destId="{0A5E1274-169C-4923-9EFD-D33CEA039B98}" srcOrd="2" destOrd="0" presId="urn:microsoft.com/office/officeart/2018/2/layout/IconLabelList"/>
    <dgm:cxn modelId="{BDFF0BEE-89FD-4A79-8670-0D0DE0BB957F}" type="presParOf" srcId="{0A5E1274-169C-4923-9EFD-D33CEA039B98}" destId="{6A7C34D4-AEA4-456A-AA99-CCA94B18B834}" srcOrd="0" destOrd="0" presId="urn:microsoft.com/office/officeart/2018/2/layout/IconLabelList"/>
    <dgm:cxn modelId="{5D2AD2E5-4693-42F6-A6A1-C0249EE471D6}" type="presParOf" srcId="{0A5E1274-169C-4923-9EFD-D33CEA039B98}" destId="{4C595D7D-7929-4DA4-8D01-6EDB818F4577}" srcOrd="1" destOrd="0" presId="urn:microsoft.com/office/officeart/2018/2/layout/IconLabelList"/>
    <dgm:cxn modelId="{1A63E84E-8AFD-4770-A150-D3F730ABC258}" type="presParOf" srcId="{0A5E1274-169C-4923-9EFD-D33CEA039B98}" destId="{210949FE-DA15-4154-9214-0F8DFEB7F7BC}" srcOrd="2" destOrd="0" presId="urn:microsoft.com/office/officeart/2018/2/layout/IconLabelList"/>
    <dgm:cxn modelId="{03385820-4FA1-43C2-B3E6-7C8239E171A4}" type="presParOf" srcId="{6F2D1E95-833B-4C3C-B9ED-8B5FBFCBC7CC}" destId="{D3B3C471-381E-417E-A397-648DDE88E00A}" srcOrd="3" destOrd="0" presId="urn:microsoft.com/office/officeart/2018/2/layout/IconLabelList"/>
    <dgm:cxn modelId="{D5E9C3AC-8551-4DF2-90BF-5CDD9044F08E}" type="presParOf" srcId="{6F2D1E95-833B-4C3C-B9ED-8B5FBFCBC7CC}" destId="{3D410886-3703-4622-83EF-A60B01935761}" srcOrd="4" destOrd="0" presId="urn:microsoft.com/office/officeart/2018/2/layout/IconLabelList"/>
    <dgm:cxn modelId="{15552136-CD12-4B19-8DC6-20B648220964}" type="presParOf" srcId="{3D410886-3703-4622-83EF-A60B01935761}" destId="{F5A3A0BD-71AB-45D2-8B57-D4298C9D2E7D}" srcOrd="0" destOrd="0" presId="urn:microsoft.com/office/officeart/2018/2/layout/IconLabelList"/>
    <dgm:cxn modelId="{B0ACD128-C86E-421A-B09C-44B953D9B256}" type="presParOf" srcId="{3D410886-3703-4622-83EF-A60B01935761}" destId="{859668F5-31D8-40EC-B9E0-541BB12D5937}" srcOrd="1" destOrd="0" presId="urn:microsoft.com/office/officeart/2018/2/layout/IconLabelList"/>
    <dgm:cxn modelId="{D87AD738-1EC9-40F7-BB6C-2E17B836512B}" type="presParOf" srcId="{3D410886-3703-4622-83EF-A60B01935761}" destId="{C8E25EA1-1649-4849-98DE-88AC5E7102A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9265D-1CB7-4B0D-9263-E7326EFDA228}">
      <dsp:nvSpPr>
        <dsp:cNvPr id="0" name=""/>
        <dsp:cNvSpPr/>
      </dsp:nvSpPr>
      <dsp:spPr>
        <a:xfrm>
          <a:off x="954085" y="849182"/>
          <a:ext cx="1255514" cy="12555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6FB78-D66E-428F-92DD-AA7037B9C1D6}">
      <dsp:nvSpPr>
        <dsp:cNvPr id="0" name=""/>
        <dsp:cNvSpPr/>
      </dsp:nvSpPr>
      <dsp:spPr>
        <a:xfrm>
          <a:off x="186826" y="2453542"/>
          <a:ext cx="27900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/>
            <a:t>ROS</a:t>
          </a:r>
          <a:endParaRPr lang="en-US" sz="2800" kern="1200"/>
        </a:p>
      </dsp:txBody>
      <dsp:txXfrm>
        <a:off x="186826" y="2453542"/>
        <a:ext cx="2790032" cy="720000"/>
      </dsp:txXfrm>
    </dsp:sp>
    <dsp:sp modelId="{6A7C34D4-AEA4-456A-AA99-CCA94B18B834}">
      <dsp:nvSpPr>
        <dsp:cNvPr id="0" name=""/>
        <dsp:cNvSpPr/>
      </dsp:nvSpPr>
      <dsp:spPr>
        <a:xfrm>
          <a:off x="4232373" y="849182"/>
          <a:ext cx="1255514" cy="12555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0949FE-DA15-4154-9214-0F8DFEB7F7BC}">
      <dsp:nvSpPr>
        <dsp:cNvPr id="0" name=""/>
        <dsp:cNvSpPr/>
      </dsp:nvSpPr>
      <dsp:spPr>
        <a:xfrm>
          <a:off x="3465114" y="2453542"/>
          <a:ext cx="27900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err="1"/>
            <a:t>Choregraphe</a:t>
          </a:r>
          <a:endParaRPr lang="en-US" sz="2800" kern="1200"/>
        </a:p>
      </dsp:txBody>
      <dsp:txXfrm>
        <a:off x="3465114" y="2453542"/>
        <a:ext cx="2790032" cy="720000"/>
      </dsp:txXfrm>
    </dsp:sp>
    <dsp:sp modelId="{F5A3A0BD-71AB-45D2-8B57-D4298C9D2E7D}">
      <dsp:nvSpPr>
        <dsp:cNvPr id="0" name=""/>
        <dsp:cNvSpPr/>
      </dsp:nvSpPr>
      <dsp:spPr>
        <a:xfrm>
          <a:off x="7510662" y="849182"/>
          <a:ext cx="1255514" cy="12555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25EA1-1649-4849-98DE-88AC5E7102AF}">
      <dsp:nvSpPr>
        <dsp:cNvPr id="0" name=""/>
        <dsp:cNvSpPr/>
      </dsp:nvSpPr>
      <dsp:spPr>
        <a:xfrm>
          <a:off x="6743403" y="2453542"/>
          <a:ext cx="27900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/>
            <a:t>Python </a:t>
          </a:r>
          <a:br>
            <a:rPr lang="it-IT" sz="2800" kern="1200"/>
          </a:br>
          <a:r>
            <a:rPr lang="it-IT" sz="2800" kern="1200"/>
            <a:t>C++</a:t>
          </a:r>
          <a:endParaRPr lang="en-US" sz="2800" kern="1200"/>
        </a:p>
      </dsp:txBody>
      <dsp:txXfrm>
        <a:off x="6743403" y="2453542"/>
        <a:ext cx="279003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89802-A482-42B8-AD79-60EB982050FA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14595-92EC-4070-8896-F4E4C00A9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3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1B7B669-F1AF-4645-9681-724D3796CA7E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8FC6C-1CDF-482E-A623-0FB5515FF42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490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7B669-F1AF-4645-9681-724D3796CA7E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8FC6C-1CDF-482E-A623-0FB5515FF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7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7B669-F1AF-4645-9681-724D3796CA7E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8FC6C-1CDF-482E-A623-0FB5515FF42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506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7B669-F1AF-4645-9681-724D3796CA7E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8FC6C-1CDF-482E-A623-0FB5515FF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99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7B669-F1AF-4645-9681-724D3796CA7E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8FC6C-1CDF-482E-A623-0FB5515FF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09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7B669-F1AF-4645-9681-724D3796CA7E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8FC6C-1CDF-482E-A623-0FB5515FF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7B669-F1AF-4645-9681-724D3796CA7E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8FC6C-1CDF-482E-A623-0FB5515FF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882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7B669-F1AF-4645-9681-724D3796CA7E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8FC6C-1CDF-482E-A623-0FB5515FF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2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7B669-F1AF-4645-9681-724D3796CA7E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8FC6C-1CDF-482E-A623-0FB5515FF42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499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7B669-F1AF-4645-9681-724D3796CA7E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8FC6C-1CDF-482E-A623-0FB5515FF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84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7B669-F1AF-4645-9681-724D3796CA7E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8FC6C-1CDF-482E-A623-0FB5515FF42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20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1B7B669-F1AF-4645-9681-724D3796CA7E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F58FC6C-1CDF-482E-A623-0FB5515FF42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105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://doc.aldebaran.com/2-5/software/choregraphe/tutos/index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doc.aldebaran.com/2-5/dev/naoqi/index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doc.aldebaran.com/2-5/naoqi/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9CCD4-6C02-164B-A473-B9CF454C3497}"/>
              </a:ext>
            </a:extLst>
          </p:cNvPr>
          <p:cNvSpPr txBox="1">
            <a:spLocks/>
          </p:cNvSpPr>
          <p:nvPr/>
        </p:nvSpPr>
        <p:spPr>
          <a:xfrm>
            <a:off x="2205681" y="1685581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b="1" cap="none"/>
            </a:br>
            <a:r>
              <a:rPr lang="en-US" b="1" cap="none"/>
              <a:t>Pepper Programming</a:t>
            </a:r>
            <a:endParaRPr lang="en-US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F6028B-CB3D-9F4F-91A3-044473E23202}"/>
              </a:ext>
            </a:extLst>
          </p:cNvPr>
          <p:cNvSpPr txBox="1">
            <a:spLocks/>
          </p:cNvSpPr>
          <p:nvPr/>
        </p:nvSpPr>
        <p:spPr>
          <a:xfrm>
            <a:off x="2891481" y="3441356"/>
            <a:ext cx="6400800" cy="175260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Dr. </a:t>
            </a:r>
            <a:r>
              <a:rPr lang="en-US" sz="2000" err="1"/>
              <a:t>Samuele</a:t>
            </a:r>
            <a:r>
              <a:rPr lang="en-US" sz="2000"/>
              <a:t> </a:t>
            </a:r>
            <a:r>
              <a:rPr lang="en-US" sz="2000" err="1"/>
              <a:t>Vinanzi</a:t>
            </a:r>
            <a:endParaRPr lang="en-US" sz="2000"/>
          </a:p>
          <a:p>
            <a:pPr algn="ctr"/>
            <a:r>
              <a:rPr lang="en-US" sz="2000"/>
              <a:t>Robotics and Artificial Intelligence</a:t>
            </a:r>
          </a:p>
          <a:p>
            <a:pPr algn="ctr"/>
            <a:r>
              <a:rPr lang="en-US" sz="2000"/>
              <a:t>Sheffield Hallam University</a:t>
            </a:r>
          </a:p>
          <a:p>
            <a:pPr algn="ctr"/>
            <a:endParaRPr lang="en-US" sz="2000"/>
          </a:p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653679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CCE0CB-A658-46F7-96FA-6428763B5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it-IT"/>
              <a:t>SOFTBANK PEPPER ROBOT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03C1E6-CE46-4C9E-9C4E-E93878A8C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286000"/>
            <a:ext cx="6882087" cy="4023360"/>
          </a:xfrm>
        </p:spPr>
        <p:txBody>
          <a:bodyPr>
            <a:normAutofit/>
          </a:bodyPr>
          <a:lstStyle/>
          <a:p>
            <a:r>
              <a:rPr lang="en-US" sz="2000"/>
              <a:t>Manufactured in 2014 by SoftBank (formerly Aldebaran), a Japanese company.</a:t>
            </a:r>
          </a:p>
          <a:p>
            <a:br>
              <a:rPr lang="it-IT" sz="2000"/>
            </a:br>
            <a:r>
              <a:rPr lang="it-IT" sz="2000"/>
              <a:t>«</a:t>
            </a:r>
            <a:r>
              <a:rPr lang="en-US" sz="2000"/>
              <a:t>Pepper is intended to make people enjoy life, enhance people's lives, facilitate relationships, entertain and connect people with the outside world»</a:t>
            </a:r>
          </a:p>
          <a:p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E90E547-DA42-4135-AF62-495B87E7C9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335"/>
          <a:stretch/>
        </p:blipFill>
        <p:spPr bwMode="auto">
          <a:xfrm>
            <a:off x="7552267" y="10"/>
            <a:ext cx="463973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2AD8AD09-0DFC-4302-9D4F-D40068F5D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989188"/>
              </p:ext>
            </p:extLst>
          </p:nvPr>
        </p:nvGraphicFramePr>
        <p:xfrm>
          <a:off x="1194107" y="4393386"/>
          <a:ext cx="5726859" cy="1676400"/>
        </p:xfrm>
        <a:graphic>
          <a:graphicData uri="http://schemas.openxmlformats.org/drawingml/2006/table">
            <a:tbl>
              <a:tblPr/>
              <a:tblGrid>
                <a:gridCol w="1546252">
                  <a:extLst>
                    <a:ext uri="{9D8B030D-6E8A-4147-A177-3AD203B41FA5}">
                      <a16:colId xmlns:a16="http://schemas.microsoft.com/office/drawing/2014/main" val="4222651073"/>
                    </a:ext>
                  </a:extLst>
                </a:gridCol>
                <a:gridCol w="4180607">
                  <a:extLst>
                    <a:ext uri="{9D8B030D-6E8A-4147-A177-3AD203B41FA5}">
                      <a16:colId xmlns:a16="http://schemas.microsoft.com/office/drawing/2014/main" val="37945033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>
                          <a:effectLst/>
                        </a:rPr>
                        <a:t>PROCESSOR</a:t>
                      </a:r>
                    </a:p>
                  </a:txBody>
                  <a:tcPr marL="15240" marR="15240" marT="30480" marB="30480" anchor="ctr">
                    <a:lnL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>
                          <a:effectLst/>
                        </a:rPr>
                        <a:t>Atom E3845</a:t>
                      </a:r>
                    </a:p>
                  </a:txBody>
                  <a:tcPr marL="15240" marR="15240" marT="30480" marB="30480" anchor="ctr">
                    <a:lnL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023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>
                          <a:effectLst/>
                        </a:rPr>
                        <a:t>CPU</a:t>
                      </a:r>
                    </a:p>
                  </a:txBody>
                  <a:tcPr marL="15240" marR="15240" marT="30480" marB="30480" anchor="ctr">
                    <a:lnL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>
                          <a:effectLst/>
                        </a:rPr>
                        <a:t>Quad core</a:t>
                      </a:r>
                    </a:p>
                  </a:txBody>
                  <a:tcPr marL="15240" marR="15240" marT="30480" marB="30480" anchor="ctr">
                    <a:lnL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118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>
                          <a:effectLst/>
                        </a:rPr>
                        <a:t>Clock speed</a:t>
                      </a:r>
                    </a:p>
                  </a:txBody>
                  <a:tcPr marL="15240" marR="15240" marT="30480" marB="30480" anchor="ctr">
                    <a:lnL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>
                          <a:effectLst/>
                        </a:rPr>
                        <a:t>1.91 GHz</a:t>
                      </a:r>
                    </a:p>
                  </a:txBody>
                  <a:tcPr marL="15240" marR="15240" marT="30480" marB="30480" anchor="ctr">
                    <a:lnL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907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>
                          <a:effectLst/>
                        </a:rPr>
                        <a:t>RAM</a:t>
                      </a:r>
                    </a:p>
                  </a:txBody>
                  <a:tcPr marL="15240" marR="15240" marT="30480" marB="30480" anchor="ctr">
                    <a:lnL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>
                          <a:effectLst/>
                        </a:rPr>
                        <a:t>4 GB DDR3</a:t>
                      </a:r>
                    </a:p>
                  </a:txBody>
                  <a:tcPr marL="15240" marR="15240" marT="30480" marB="30480" anchor="ctr">
                    <a:lnL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769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>
                          <a:effectLst/>
                        </a:rPr>
                        <a:t>GPU</a:t>
                      </a:r>
                    </a:p>
                  </a:txBody>
                  <a:tcPr marL="15240" marR="15240" marT="30480" marB="30480" anchor="ctr">
                    <a:lnL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>
                          <a:effectLst/>
                        </a:rPr>
                        <a:t>Intel HD graphics 792 MHz</a:t>
                      </a:r>
                    </a:p>
                  </a:txBody>
                  <a:tcPr marL="15240" marR="15240" marT="30480" marB="30480" anchor="ctr">
                    <a:lnL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2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5729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66491D-299F-4654-9C23-B02291F19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SOFTBANK PEPPER ROBOT</a:t>
            </a:r>
            <a:endParaRPr lang="en-US"/>
          </a:p>
        </p:txBody>
      </p: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3F03E209-2D5D-4AFE-9BB9-B3D019717C13}"/>
              </a:ext>
            </a:extLst>
          </p:cNvPr>
          <p:cNvGrpSpPr/>
          <p:nvPr/>
        </p:nvGrpSpPr>
        <p:grpSpPr>
          <a:xfrm>
            <a:off x="1799995" y="2015000"/>
            <a:ext cx="8592009" cy="4791046"/>
            <a:chOff x="2087262" y="1975614"/>
            <a:chExt cx="8592009" cy="4791046"/>
          </a:xfrm>
        </p:grpSpPr>
        <p:pic>
          <p:nvPicPr>
            <p:cNvPr id="4" name="Immagine 3" descr="Immagine che contiene interni, oggetto&#10;&#10;Descrizione generata automaticamente">
              <a:extLst>
                <a:ext uri="{FF2B5EF4-FFF2-40B4-BE49-F238E27FC236}">
                  <a16:creationId xmlns:a16="http://schemas.microsoft.com/office/drawing/2014/main" id="{91CCCD4D-372A-4A0A-B3C2-AF862BEEE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8010" y="1975633"/>
              <a:ext cx="2075979" cy="4791027"/>
            </a:xfrm>
            <a:prstGeom prst="rect">
              <a:avLst/>
            </a:prstGeom>
          </p:spPr>
        </p:pic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2BF97774-E7D2-4FA5-86DF-06D68CE53529}"/>
                </a:ext>
              </a:extLst>
            </p:cNvPr>
            <p:cNvSpPr txBox="1"/>
            <p:nvPr/>
          </p:nvSpPr>
          <p:spPr>
            <a:xfrm>
              <a:off x="7582292" y="2046300"/>
              <a:ext cx="1706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err="1"/>
                <a:t>Tactile</a:t>
              </a:r>
              <a:r>
                <a:rPr lang="it-IT"/>
                <a:t> </a:t>
              </a:r>
              <a:r>
                <a:rPr lang="it-IT" err="1"/>
                <a:t>sensors</a:t>
              </a:r>
              <a:endParaRPr lang="en-US"/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6B95BC29-79D4-44C1-B56B-7E4100FCC708}"/>
                </a:ext>
              </a:extLst>
            </p:cNvPr>
            <p:cNvSpPr txBox="1"/>
            <p:nvPr/>
          </p:nvSpPr>
          <p:spPr>
            <a:xfrm>
              <a:off x="7692273" y="2365652"/>
              <a:ext cx="1706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err="1"/>
                <a:t>Microphones</a:t>
              </a:r>
              <a:endParaRPr lang="en-US"/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83CABBD8-A0CB-4D5A-8C78-F028C0292AD0}"/>
                </a:ext>
              </a:extLst>
            </p:cNvPr>
            <p:cNvSpPr txBox="1"/>
            <p:nvPr/>
          </p:nvSpPr>
          <p:spPr>
            <a:xfrm>
              <a:off x="2585566" y="2587174"/>
              <a:ext cx="1706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/>
                <a:t>Depth </a:t>
              </a:r>
              <a:r>
                <a:rPr lang="it-IT" err="1"/>
                <a:t>cameras</a:t>
              </a:r>
              <a:endParaRPr lang="en-US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916B496C-BE3F-4851-883D-4745A618A34A}"/>
                </a:ext>
              </a:extLst>
            </p:cNvPr>
            <p:cNvSpPr txBox="1"/>
            <p:nvPr/>
          </p:nvSpPr>
          <p:spPr>
            <a:xfrm>
              <a:off x="7900182" y="3030610"/>
              <a:ext cx="1706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/>
                <a:t>Speakers</a:t>
              </a:r>
              <a:endParaRPr lang="en-US"/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B0834E47-C6D2-4FE6-BE17-4614AE2FE4B2}"/>
                </a:ext>
              </a:extLst>
            </p:cNvPr>
            <p:cNvSpPr txBox="1"/>
            <p:nvPr/>
          </p:nvSpPr>
          <p:spPr>
            <a:xfrm>
              <a:off x="7473903" y="3712620"/>
              <a:ext cx="1706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/>
                <a:t>Tablet</a:t>
              </a:r>
              <a:endParaRPr lang="en-US"/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AC3B01CF-50E5-4F68-9F45-3C557114BAAA}"/>
                </a:ext>
              </a:extLst>
            </p:cNvPr>
            <p:cNvSpPr txBox="1"/>
            <p:nvPr/>
          </p:nvSpPr>
          <p:spPr>
            <a:xfrm>
              <a:off x="7254464" y="5529048"/>
              <a:ext cx="1706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err="1"/>
                <a:t>Sonars</a:t>
              </a:r>
              <a:endParaRPr lang="en-US"/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918C2426-F1AA-4A6E-A810-F21E5A87F8AE}"/>
                </a:ext>
              </a:extLst>
            </p:cNvPr>
            <p:cNvSpPr txBox="1"/>
            <p:nvPr/>
          </p:nvSpPr>
          <p:spPr>
            <a:xfrm>
              <a:off x="2793475" y="2092664"/>
              <a:ext cx="1706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/>
                <a:t>RGB </a:t>
              </a:r>
              <a:r>
                <a:rPr lang="it-IT" err="1"/>
                <a:t>cameras</a:t>
              </a:r>
              <a:endParaRPr lang="en-US"/>
            </a:p>
          </p:txBody>
        </p: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C7343881-6E97-429B-A757-7F10AA0A1292}"/>
                </a:ext>
              </a:extLst>
            </p:cNvPr>
            <p:cNvSpPr txBox="1"/>
            <p:nvPr/>
          </p:nvSpPr>
          <p:spPr>
            <a:xfrm>
              <a:off x="2529016" y="3781091"/>
              <a:ext cx="1706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err="1"/>
                <a:t>Gyroscope</a:t>
              </a:r>
              <a:endParaRPr lang="en-US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486FAF69-8BD8-4BC0-A99B-E8C8BDA2938C}"/>
                </a:ext>
              </a:extLst>
            </p:cNvPr>
            <p:cNvSpPr txBox="1"/>
            <p:nvPr/>
          </p:nvSpPr>
          <p:spPr>
            <a:xfrm>
              <a:off x="2087262" y="4257853"/>
              <a:ext cx="1706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err="1"/>
                <a:t>Inertial</a:t>
              </a:r>
              <a:r>
                <a:rPr lang="it-IT"/>
                <a:t> </a:t>
              </a:r>
              <a:r>
                <a:rPr lang="it-IT" err="1"/>
                <a:t>sensors</a:t>
              </a:r>
              <a:endParaRPr lang="en-US"/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9A65E709-E1BD-4D4E-AEBC-AFEC91E7121B}"/>
                </a:ext>
              </a:extLst>
            </p:cNvPr>
            <p:cNvSpPr txBox="1"/>
            <p:nvPr/>
          </p:nvSpPr>
          <p:spPr>
            <a:xfrm>
              <a:off x="7956732" y="4620834"/>
              <a:ext cx="1706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err="1"/>
                <a:t>Tactile</a:t>
              </a:r>
              <a:r>
                <a:rPr lang="it-IT"/>
                <a:t> </a:t>
              </a:r>
              <a:r>
                <a:rPr lang="it-IT" err="1"/>
                <a:t>sensors</a:t>
              </a:r>
              <a:endParaRPr lang="en-US"/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4ECEE25B-7F06-42C9-94E2-6A93E61B431C}"/>
                </a:ext>
              </a:extLst>
            </p:cNvPr>
            <p:cNvSpPr txBox="1"/>
            <p:nvPr/>
          </p:nvSpPr>
          <p:spPr>
            <a:xfrm>
              <a:off x="3273212" y="5285792"/>
              <a:ext cx="1706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err="1"/>
                <a:t>Lasers</a:t>
              </a:r>
              <a:endParaRPr lang="en-US"/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5C895CFB-221C-48AB-91B6-B25264022FD3}"/>
                </a:ext>
              </a:extLst>
            </p:cNvPr>
            <p:cNvSpPr txBox="1"/>
            <p:nvPr/>
          </p:nvSpPr>
          <p:spPr>
            <a:xfrm>
              <a:off x="2793475" y="6208183"/>
              <a:ext cx="1706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/>
                <a:t>Bumpers</a:t>
              </a:r>
              <a:endParaRPr lang="en-US"/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A1FE4536-9BDF-4AB4-9E4F-0F48333580B8}"/>
                </a:ext>
              </a:extLst>
            </p:cNvPr>
            <p:cNvSpPr txBox="1"/>
            <p:nvPr/>
          </p:nvSpPr>
          <p:spPr>
            <a:xfrm>
              <a:off x="8209956" y="6369914"/>
              <a:ext cx="2469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err="1"/>
                <a:t>Omnidirectional</a:t>
              </a:r>
              <a:r>
                <a:rPr lang="it-IT"/>
                <a:t> </a:t>
              </a:r>
              <a:r>
                <a:rPr lang="it-IT" err="1"/>
                <a:t>wheels</a:t>
              </a:r>
              <a:endParaRPr lang="en-US"/>
            </a:p>
          </p:txBody>
        </p:sp>
        <p:cxnSp>
          <p:nvCxnSpPr>
            <p:cNvPr id="18" name="Connettore 2 17">
              <a:extLst>
                <a:ext uri="{FF2B5EF4-FFF2-40B4-BE49-F238E27FC236}">
                  <a16:creationId xmlns:a16="http://schemas.microsoft.com/office/drawing/2014/main" id="{B1D3FE5F-DD5F-41DF-9D70-E3F2D71F5793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 flipV="1">
              <a:off x="5986022" y="1975624"/>
              <a:ext cx="1596270" cy="2553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2 18">
              <a:extLst>
                <a:ext uri="{FF2B5EF4-FFF2-40B4-BE49-F238E27FC236}">
                  <a16:creationId xmlns:a16="http://schemas.microsoft.com/office/drawing/2014/main" id="{5F83E97C-168D-467E-8238-2F36900334C5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 flipV="1">
              <a:off x="5986023" y="1975614"/>
              <a:ext cx="1706250" cy="5747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2 19">
              <a:extLst>
                <a:ext uri="{FF2B5EF4-FFF2-40B4-BE49-F238E27FC236}">
                  <a16:creationId xmlns:a16="http://schemas.microsoft.com/office/drawing/2014/main" id="{D3AB4E1A-EDD6-4C87-A45B-2C9F086478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4975" y="2398360"/>
              <a:ext cx="1465207" cy="8169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2 20">
              <a:extLst>
                <a:ext uri="{FF2B5EF4-FFF2-40B4-BE49-F238E27FC236}">
                  <a16:creationId xmlns:a16="http://schemas.microsoft.com/office/drawing/2014/main" id="{B947BEC2-5503-40C6-A5AE-CCA34DB0D0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15762" y="3399942"/>
              <a:ext cx="956550" cy="5067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2 21">
              <a:extLst>
                <a:ext uri="{FF2B5EF4-FFF2-40B4-BE49-F238E27FC236}">
                  <a16:creationId xmlns:a16="http://schemas.microsoft.com/office/drawing/2014/main" id="{E84EEFEB-297F-4C59-BB10-CB45DE4D6825}"/>
                </a:ext>
              </a:extLst>
            </p:cNvPr>
            <p:cNvCxnSpPr/>
            <p:nvPr/>
          </p:nvCxnSpPr>
          <p:spPr>
            <a:xfrm flipH="1" flipV="1">
              <a:off x="6940811" y="4485992"/>
              <a:ext cx="959371" cy="4321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2 22">
              <a:extLst>
                <a:ext uri="{FF2B5EF4-FFF2-40B4-BE49-F238E27FC236}">
                  <a16:creationId xmlns:a16="http://schemas.microsoft.com/office/drawing/2014/main" id="{73BD87CF-986E-4CFB-A5DC-033233B5DB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4547" y="5655124"/>
              <a:ext cx="1037990" cy="271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2 23">
              <a:extLst>
                <a:ext uri="{FF2B5EF4-FFF2-40B4-BE49-F238E27FC236}">
                  <a16:creationId xmlns:a16="http://schemas.microsoft.com/office/drawing/2014/main" id="{D3117487-59AE-460E-A1D6-C2B67BCF2A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91373" y="6554580"/>
              <a:ext cx="1818583" cy="229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2 24">
              <a:extLst>
                <a:ext uri="{FF2B5EF4-FFF2-40B4-BE49-F238E27FC236}">
                  <a16:creationId xmlns:a16="http://schemas.microsoft.com/office/drawing/2014/main" id="{585B516C-3D0B-423B-9FCC-E170C4653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5267" y="2089934"/>
              <a:ext cx="1672207" cy="2165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2 25">
              <a:extLst>
                <a:ext uri="{FF2B5EF4-FFF2-40B4-BE49-F238E27FC236}">
                  <a16:creationId xmlns:a16="http://schemas.microsoft.com/office/drawing/2014/main" id="{54846D3A-1CC5-4ADB-8F51-F998BC47EC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1817" y="2310803"/>
              <a:ext cx="1412569" cy="50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2 26">
              <a:extLst>
                <a:ext uri="{FF2B5EF4-FFF2-40B4-BE49-F238E27FC236}">
                  <a16:creationId xmlns:a16="http://schemas.microsoft.com/office/drawing/2014/main" id="{FA35F7D8-20F5-4295-B156-FB1DF182B073}"/>
                </a:ext>
              </a:extLst>
            </p:cNvPr>
            <p:cNvCxnSpPr/>
            <p:nvPr/>
          </p:nvCxnSpPr>
          <p:spPr>
            <a:xfrm flipV="1">
              <a:off x="3730399" y="3712620"/>
              <a:ext cx="2227079" cy="3217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2 27">
              <a:extLst>
                <a:ext uri="{FF2B5EF4-FFF2-40B4-BE49-F238E27FC236}">
                  <a16:creationId xmlns:a16="http://schemas.microsoft.com/office/drawing/2014/main" id="{2701BC89-DB34-4426-B1A4-2FBF4A8B37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3513" y="4061837"/>
              <a:ext cx="2163965" cy="4357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2 28">
              <a:extLst>
                <a:ext uri="{FF2B5EF4-FFF2-40B4-BE49-F238E27FC236}">
                  <a16:creationId xmlns:a16="http://schemas.microsoft.com/office/drawing/2014/main" id="{E324791C-DFA3-4474-97A8-3822F42AB454}"/>
                </a:ext>
              </a:extLst>
            </p:cNvPr>
            <p:cNvCxnSpPr/>
            <p:nvPr/>
          </p:nvCxnSpPr>
          <p:spPr>
            <a:xfrm>
              <a:off x="4126337" y="5513763"/>
              <a:ext cx="1831141" cy="152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2 29">
              <a:extLst>
                <a:ext uri="{FF2B5EF4-FFF2-40B4-BE49-F238E27FC236}">
                  <a16:creationId xmlns:a16="http://schemas.microsoft.com/office/drawing/2014/main" id="{52095BBD-4DA3-4660-939B-82A1D00EF3CC}"/>
                </a:ext>
              </a:extLst>
            </p:cNvPr>
            <p:cNvCxnSpPr/>
            <p:nvPr/>
          </p:nvCxnSpPr>
          <p:spPr>
            <a:xfrm flipV="1">
              <a:off x="3863298" y="6369914"/>
              <a:ext cx="1236640" cy="733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98094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C189A2-269C-493A-A05B-81C2D6B6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SOFTBANK PEPPER ROBOT</a:t>
            </a:r>
          </a:p>
        </p:txBody>
      </p:sp>
      <p:pic>
        <p:nvPicPr>
          <p:cNvPr id="4" name="Immagine 3" descr="Immagine che contiene testo, mappa&#10;&#10;Descrizione generata automaticamente">
            <a:extLst>
              <a:ext uri="{FF2B5EF4-FFF2-40B4-BE49-F238E27FC236}">
                <a16:creationId xmlns:a16="http://schemas.microsoft.com/office/drawing/2014/main" id="{0470BC42-B7F8-48E7-9C32-C496C1918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2084832"/>
            <a:ext cx="4429020" cy="461616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189EE83-3A1D-449A-9F59-0472D700B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854" y="2084832"/>
            <a:ext cx="4561278" cy="34290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658AC70D-0DA4-4232-AE78-5EB27F659843}"/>
              </a:ext>
            </a:extLst>
          </p:cNvPr>
          <p:cNvSpPr txBox="1"/>
          <p:nvPr/>
        </p:nvSpPr>
        <p:spPr>
          <a:xfrm>
            <a:off x="6865468" y="5767517"/>
            <a:ext cx="4308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3D rotational axes (roll, pitch yaw)</a:t>
            </a:r>
          </a:p>
        </p:txBody>
      </p:sp>
    </p:spTree>
    <p:extLst>
      <p:ext uri="{BB962C8B-B14F-4D97-AF65-F5344CB8AC3E}">
        <p14:creationId xmlns:p14="http://schemas.microsoft.com/office/powerpoint/2010/main" val="1336256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6E36BB-7176-4E0A-8D68-738162B9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Middleware: </a:t>
            </a:r>
            <a:r>
              <a:rPr lang="en-US" err="1"/>
              <a:t>naoqi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8C05DE-405E-4CA0-8C89-26158331F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57425"/>
            <a:ext cx="7910322" cy="4023360"/>
          </a:xfrm>
        </p:spPr>
        <p:txBody>
          <a:bodyPr/>
          <a:lstStyle/>
          <a:p>
            <a:r>
              <a:rPr lang="en-US"/>
              <a:t>Proprietary software of SoftBank Robotics.</a:t>
            </a:r>
          </a:p>
          <a:p>
            <a:r>
              <a:rPr lang="en-US"/>
              <a:t>Used across their robots: Nao and Pepper.</a:t>
            </a:r>
          </a:p>
          <a:p>
            <a:r>
              <a:rPr lang="en-US"/>
              <a:t>Interfaces in Python and C++.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1026" name="Picture 2" descr="naoqi_home">
            <a:extLst>
              <a:ext uri="{FF2B5EF4-FFF2-40B4-BE49-F238E27FC236}">
                <a16:creationId xmlns:a16="http://schemas.microsoft.com/office/drawing/2014/main" id="{B198F028-D0FE-4B6F-9A62-370CC5AB8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178249"/>
            <a:ext cx="2981325" cy="567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isultato immagini per naoqi">
            <a:extLst>
              <a:ext uri="{FF2B5EF4-FFF2-40B4-BE49-F238E27FC236}">
                <a16:creationId xmlns:a16="http://schemas.microsoft.com/office/drawing/2014/main" id="{153F02C1-190F-451B-81DA-FC91A6888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550" y="4016497"/>
            <a:ext cx="4148138" cy="284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898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33290D-C647-4FA7-B4ED-A0BF4921A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it-IT"/>
              <a:t>PROGRAMMING PEPPER</a:t>
            </a:r>
            <a:endParaRPr lang="en-US"/>
          </a:p>
        </p:txBody>
      </p:sp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C063FE26-AF11-4FBA-AE62-3580D63AF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754354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0703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75818D-2EE8-4F62-936B-0C8E0931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CHoregraphe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4A56D7-7CB4-43A3-84E0-15BF981C3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5999"/>
            <a:ext cx="9720073" cy="4199641"/>
          </a:xfrm>
        </p:spPr>
        <p:txBody>
          <a:bodyPr>
            <a:normAutofit lnSpcReduction="10000"/>
          </a:bodyPr>
          <a:lstStyle/>
          <a:p>
            <a:r>
              <a:rPr lang="en-US"/>
              <a:t>Easiest</a:t>
            </a:r>
            <a:r>
              <a:rPr lang="it-IT"/>
              <a:t> way of programming the robot.</a:t>
            </a:r>
            <a:endParaRPr lang="en-US"/>
          </a:p>
          <a:p>
            <a:r>
              <a:rPr lang="en-US"/>
              <a:t>No code: only graphical blocks that are combined to form behaviors.</a:t>
            </a:r>
          </a:p>
          <a:p>
            <a:endParaRPr lang="en-US"/>
          </a:p>
          <a:p>
            <a:r>
              <a:rPr lang="en-US"/>
              <a:t>Useful for: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/>
              <a:t> Learning robot programming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/>
              <a:t> Developing simple behaviors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/>
              <a:t> Simulation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/>
              <a:t> Monitoring the robot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/>
              <a:t> Designing animations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200"/>
          </a:p>
          <a:p>
            <a:pPr marL="128016" lvl="1" indent="0">
              <a:buNone/>
            </a:pPr>
            <a:r>
              <a:rPr lang="en-US" sz="2400">
                <a:hlinkClick r:id="rId2"/>
              </a:rPr>
              <a:t>http://doc.aldebaran.com/2-5/software/choregraphe/tutos/index.html</a:t>
            </a:r>
            <a:endParaRPr lang="en-US" sz="2200"/>
          </a:p>
        </p:txBody>
      </p:sp>
      <p:pic>
        <p:nvPicPr>
          <p:cNvPr id="1026" name="Picture 2" descr="Risultato immagini per choregraphe logo&quot;">
            <a:extLst>
              <a:ext uri="{FF2B5EF4-FFF2-40B4-BE49-F238E27FC236}">
                <a16:creationId xmlns:a16="http://schemas.microsoft.com/office/drawing/2014/main" id="{623D84E5-DCC8-4D22-8860-C5FEAFC70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8011" y="548640"/>
            <a:ext cx="338137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76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138049-AA06-446F-AACC-844AFE06F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Choregraphe</a:t>
            </a:r>
            <a:r>
              <a:rPr lang="it-IT"/>
              <a:t> OVERVIEW</a:t>
            </a:r>
            <a:endParaRPr lang="en-US"/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CDC4F852-1EFC-47A9-B209-BDF3CF09A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6578" y="1948714"/>
            <a:ext cx="8478844" cy="45485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46937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0B1D34-FD27-4CE7-B202-4F993F21C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CHOREGRAPHE OVERVIEW</a:t>
            </a:r>
          </a:p>
        </p:txBody>
      </p:sp>
      <p:pic>
        <p:nvPicPr>
          <p:cNvPr id="5" name="Segnaposto contenuto 4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53F9417D-18BA-4FFC-BBDB-4B859579E4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151" y="2185186"/>
            <a:ext cx="9119697" cy="4210974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3068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A0D270-A982-4729-B681-7597911EB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6D74C27-74CA-480D-A1FE-D7798F78C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err="1"/>
              <a:t>NAOqi</a:t>
            </a:r>
            <a:r>
              <a:rPr lang="en-US"/>
              <a:t> is the name of the main software that runs on the robot and controls it.</a:t>
            </a:r>
          </a:p>
          <a:p>
            <a:r>
              <a:rPr lang="en-US"/>
              <a:t>Interfaces in Python and C++.</a:t>
            </a:r>
          </a:p>
          <a:p>
            <a:endParaRPr lang="en-US"/>
          </a:p>
          <a:p>
            <a:r>
              <a:rPr lang="en-US">
                <a:hlinkClick r:id="rId2"/>
              </a:rPr>
              <a:t>http://doc.aldebaran.com/2-5/dev/naoqi/index.html</a:t>
            </a:r>
            <a:endParaRPr lang="en-US"/>
          </a:p>
        </p:txBody>
      </p:sp>
      <p:pic>
        <p:nvPicPr>
          <p:cNvPr id="4" name="Picture 2" descr="Cross language">
            <a:extLst>
              <a:ext uri="{FF2B5EF4-FFF2-40B4-BE49-F238E27FC236}">
                <a16:creationId xmlns:a16="http://schemas.microsoft.com/office/drawing/2014/main" id="{76E736E1-8FD5-4D5B-9E2A-982F440F6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294" y="3768561"/>
            <a:ext cx="4365865" cy="308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31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D09BEE-C858-4A6F-9A7D-46E96E06E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pic>
        <p:nvPicPr>
          <p:cNvPr id="2050" name="Picture 2" descr="broker, modules and methods">
            <a:extLst>
              <a:ext uri="{FF2B5EF4-FFF2-40B4-BE49-F238E27FC236}">
                <a16:creationId xmlns:a16="http://schemas.microsoft.com/office/drawing/2014/main" id="{D25BC675-6F40-4E8C-8D90-E74D208F5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800" y="1858284"/>
            <a:ext cx="6992399" cy="4778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482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B4CD76-E55F-40FB-8D72-D705542B7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98EA60-FDFB-49F7-848A-99F82398C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141002" cy="2832755"/>
          </a:xfrm>
          <a:solidFill>
            <a:schemeClr val="accent6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b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from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 </a:t>
            </a:r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naoqi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 </a:t>
            </a:r>
            <a:r>
              <a:rPr lang="en-US" b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import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 </a:t>
            </a:r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ALProxy</a:t>
            </a:r>
            <a:endParaRPr lang="en-US">
              <a:solidFill>
                <a:schemeClr val="bg1"/>
              </a:solidFill>
              <a:latin typeface="Corbel Light" panose="020B0303020204020204" pitchFamily="34" charset="0"/>
              <a:ea typeface="Verdana" panose="020B060403050404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IP = "</a:t>
            </a:r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pepper.local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"</a:t>
            </a:r>
          </a:p>
          <a:p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PORT = 9559</a:t>
            </a:r>
          </a:p>
          <a:p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tts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 = </a:t>
            </a:r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ALProxy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("</a:t>
            </a:r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ALTextToSpeech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", IP, PORT)</a:t>
            </a:r>
          </a:p>
          <a:p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tts.setLanguage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("English")</a:t>
            </a:r>
          </a:p>
          <a:p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tts.say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("Hello, world!")</a:t>
            </a:r>
          </a:p>
        </p:txBody>
      </p:sp>
      <p:pic>
        <p:nvPicPr>
          <p:cNvPr id="4098" name="Picture 2" descr="Risultato immagini per pepper robot&quot;">
            <a:extLst>
              <a:ext uri="{FF2B5EF4-FFF2-40B4-BE49-F238E27FC236}">
                <a16:creationId xmlns:a16="http://schemas.microsoft.com/office/drawing/2014/main" id="{42B6F2F2-6172-4A7D-BC97-6DD850AA5E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9" t="21135" r="20166" b="20709"/>
          <a:stretch/>
        </p:blipFill>
        <p:spPr bwMode="auto">
          <a:xfrm>
            <a:off x="8288398" y="3934585"/>
            <a:ext cx="2932975" cy="2720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umetto: ovale 3">
            <a:extLst>
              <a:ext uri="{FF2B5EF4-FFF2-40B4-BE49-F238E27FC236}">
                <a16:creationId xmlns:a16="http://schemas.microsoft.com/office/drawing/2014/main" id="{E0E92717-19E5-4CBB-8A3B-CD024A02C303}"/>
              </a:ext>
            </a:extLst>
          </p:cNvPr>
          <p:cNvSpPr/>
          <p:nvPr/>
        </p:nvSpPr>
        <p:spPr>
          <a:xfrm>
            <a:off x="9646445" y="2722838"/>
            <a:ext cx="1948525" cy="1143000"/>
          </a:xfrm>
          <a:prstGeom prst="wedgeEllipse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val="179612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B4CD76-E55F-40FB-8D72-D705542B7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98EA60-FDFB-49F7-848A-99F82398C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7766" y="2648932"/>
            <a:ext cx="5152936" cy="4005867"/>
          </a:xfrm>
          <a:solidFill>
            <a:schemeClr val="accent6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from</a:t>
            </a:r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naoqi</a:t>
            </a:r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 </a:t>
            </a:r>
            <a:r>
              <a:rPr lang="en-US" sz="2000" b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import</a:t>
            </a:r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 </a:t>
            </a:r>
            <a:r>
              <a:rPr lang="en-US" sz="2000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ALProxy</a:t>
            </a:r>
            <a:endParaRPr lang="en-US" sz="2000">
              <a:solidFill>
                <a:schemeClr val="bg1"/>
              </a:solidFill>
              <a:latin typeface="Corbel Light" panose="020B0303020204020204" pitchFamily="34" charset="0"/>
              <a:ea typeface="Verdana" panose="020B0604030504040204" pitchFamily="34" charset="0"/>
            </a:endParaRPr>
          </a:p>
          <a:p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IP = "</a:t>
            </a:r>
            <a:r>
              <a:rPr lang="en-US" sz="2000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pepper.local</a:t>
            </a:r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"</a:t>
            </a:r>
          </a:p>
          <a:p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PORT = 9559</a:t>
            </a:r>
          </a:p>
          <a:p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motion = </a:t>
            </a:r>
            <a:r>
              <a:rPr lang="en-US" sz="2000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ALProxy</a:t>
            </a:r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("</a:t>
            </a:r>
            <a:r>
              <a:rPr lang="en-US" sz="2000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ALMotion</a:t>
            </a:r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", IP, PORT)</a:t>
            </a:r>
          </a:p>
          <a:p>
            <a:r>
              <a:rPr lang="en-US" sz="2000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tts</a:t>
            </a:r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    = </a:t>
            </a:r>
            <a:r>
              <a:rPr lang="en-US" sz="2000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ALProxy</a:t>
            </a:r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("</a:t>
            </a:r>
            <a:r>
              <a:rPr lang="en-US" sz="2000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ALTextToSpeech</a:t>
            </a:r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", IP, PORT)</a:t>
            </a:r>
          </a:p>
          <a:p>
            <a:r>
              <a:rPr lang="en-US" sz="2000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motion.moveInit</a:t>
            </a:r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()</a:t>
            </a:r>
          </a:p>
          <a:p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id = </a:t>
            </a:r>
            <a:r>
              <a:rPr lang="en-US" sz="2000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motion.post.moveTo</a:t>
            </a:r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(0.5, 0, 0)	 # (x; y; theta)</a:t>
            </a:r>
          </a:p>
          <a:p>
            <a:r>
              <a:rPr lang="en-US" sz="2000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motion.wait</a:t>
            </a:r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(id, 0)</a:t>
            </a:r>
          </a:p>
          <a:p>
            <a:r>
              <a:rPr lang="en-US" sz="2000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tts.say</a:t>
            </a:r>
            <a:r>
              <a:rPr lang="en-US" sz="2000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("I have walked")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DC51141D-AE76-44D5-A0B7-BC3A45E5CDAF}"/>
              </a:ext>
            </a:extLst>
          </p:cNvPr>
          <p:cNvSpPr txBox="1">
            <a:spLocks/>
          </p:cNvSpPr>
          <p:nvPr/>
        </p:nvSpPr>
        <p:spPr>
          <a:xfrm>
            <a:off x="1024128" y="2001520"/>
            <a:ext cx="5152936" cy="369858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vert="horz" lIns="45720" tIns="45720" rIns="4572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from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 </a:t>
            </a:r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naoqi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 </a:t>
            </a:r>
            <a:r>
              <a:rPr lang="en-US" b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import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 </a:t>
            </a:r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ALProxy</a:t>
            </a:r>
            <a:endParaRPr lang="en-US">
              <a:solidFill>
                <a:schemeClr val="bg1"/>
              </a:solidFill>
              <a:latin typeface="Corbel Light" panose="020B0303020204020204" pitchFamily="34" charset="0"/>
              <a:ea typeface="Verdana" panose="020B060403050404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IP = "</a:t>
            </a:r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pepper.local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"</a:t>
            </a:r>
          </a:p>
          <a:p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PORT = 9559</a:t>
            </a:r>
          </a:p>
          <a:p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motion = </a:t>
            </a:r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ALProxy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("</a:t>
            </a:r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ALMotion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", IP, PORT)</a:t>
            </a:r>
          </a:p>
          <a:p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tts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    = </a:t>
            </a:r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ALProxy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("</a:t>
            </a:r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ALTextToSpeech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", IP, PORT)</a:t>
            </a:r>
          </a:p>
          <a:p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motion.moveInit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()</a:t>
            </a:r>
          </a:p>
          <a:p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motion.moveTo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(0.5, 0, 0)	 # (x; y; theta)</a:t>
            </a:r>
          </a:p>
          <a:p>
            <a:r>
              <a:rPr lang="en-US" err="1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tts.say</a:t>
            </a:r>
            <a:r>
              <a:rPr lang="en-US">
                <a:solidFill>
                  <a:schemeClr val="bg1"/>
                </a:solidFill>
                <a:latin typeface="Corbel Light" panose="020B0303020204020204" pitchFamily="34" charset="0"/>
                <a:ea typeface="Verdana" panose="020B0604030504040204" pitchFamily="34" charset="0"/>
              </a:rPr>
              <a:t>("I am walking")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50C70BD-4663-4127-A5EF-C1C57332D4C4}"/>
              </a:ext>
            </a:extLst>
          </p:cNvPr>
          <p:cNvSpPr txBox="1"/>
          <p:nvPr/>
        </p:nvSpPr>
        <p:spPr>
          <a:xfrm>
            <a:off x="8264015" y="1460086"/>
            <a:ext cx="23004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200"/>
              <a:t>Talks after </a:t>
            </a:r>
            <a:r>
              <a:rPr lang="it-IT" sz="2200" err="1"/>
              <a:t>walking</a:t>
            </a:r>
            <a:endParaRPr lang="en-US" sz="220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801BA39-ABE9-423F-8721-D377F3EEFCAE}"/>
              </a:ext>
            </a:extLst>
          </p:cNvPr>
          <p:cNvSpPr txBox="1"/>
          <p:nvPr/>
        </p:nvSpPr>
        <p:spPr>
          <a:xfrm>
            <a:off x="2330042" y="6133646"/>
            <a:ext cx="23148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200"/>
              <a:t>Talks </a:t>
            </a:r>
            <a:r>
              <a:rPr lang="it-IT" sz="2200" err="1"/>
              <a:t>while</a:t>
            </a:r>
            <a:r>
              <a:rPr lang="it-IT" sz="2200"/>
              <a:t> </a:t>
            </a:r>
            <a:r>
              <a:rPr lang="it-IT" sz="2200" err="1"/>
              <a:t>walking</a:t>
            </a:r>
            <a:endParaRPr lang="en-US" sz="220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BAA6F055-A846-4602-BE7F-17E4DC82C379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487474" y="5786092"/>
            <a:ext cx="0" cy="34755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56963A6-F273-4F82-ADA4-9D0DCC25A79E}"/>
              </a:ext>
            </a:extLst>
          </p:cNvPr>
          <p:cNvCxnSpPr>
            <a:cxnSpLocks/>
          </p:cNvCxnSpPr>
          <p:nvPr/>
        </p:nvCxnSpPr>
        <p:spPr>
          <a:xfrm>
            <a:off x="9414234" y="1902880"/>
            <a:ext cx="1" cy="57151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87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7F30EE-DC58-446B-98CC-EA2648CB8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335A2C-F1EE-4F2E-A096-A2C4BDEDC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777696"/>
            <a:ext cx="9720072" cy="2880360"/>
          </a:xfrm>
        </p:spPr>
        <p:txBody>
          <a:bodyPr numCol="2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 </a:t>
            </a:r>
            <a:r>
              <a:rPr lang="en-US" err="1"/>
              <a:t>ALVideoDevice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 </a:t>
            </a:r>
            <a:r>
              <a:rPr lang="en-US" err="1"/>
              <a:t>ALTextToSpeech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 </a:t>
            </a:r>
            <a:r>
              <a:rPr lang="en-US" err="1"/>
              <a:t>ALAnimatedSpeech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 </a:t>
            </a:r>
            <a:r>
              <a:rPr lang="en-US" err="1"/>
              <a:t>ALMotion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 </a:t>
            </a:r>
            <a:r>
              <a:rPr lang="en-US" err="1"/>
              <a:t>ALFaceTracker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 </a:t>
            </a:r>
            <a:r>
              <a:rPr lang="en-US" err="1"/>
              <a:t>ALLeds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 </a:t>
            </a:r>
            <a:r>
              <a:rPr lang="en-US" err="1"/>
              <a:t>ALLandmarkDetection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 </a:t>
            </a:r>
            <a:r>
              <a:rPr lang="en-US" err="1"/>
              <a:t>ALMemory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 </a:t>
            </a:r>
            <a:r>
              <a:rPr lang="en-US" err="1"/>
              <a:t>ALSpeechRecognition</a:t>
            </a:r>
            <a:r>
              <a:rPr lang="en-US"/>
              <a:t>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75EF96C-4DF9-46BF-BA5C-68D63ADE0C4F}"/>
              </a:ext>
            </a:extLst>
          </p:cNvPr>
          <p:cNvSpPr txBox="1"/>
          <p:nvPr/>
        </p:nvSpPr>
        <p:spPr>
          <a:xfrm>
            <a:off x="1024128" y="2084832"/>
            <a:ext cx="97200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/>
              <a:t>Useful modules to keep in mind (check documentation for full API description):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9E78914-1F34-4BC8-8FDB-21F33D649C13}"/>
              </a:ext>
            </a:extLst>
          </p:cNvPr>
          <p:cNvSpPr txBox="1"/>
          <p:nvPr/>
        </p:nvSpPr>
        <p:spPr>
          <a:xfrm>
            <a:off x="1024128" y="5920033"/>
            <a:ext cx="97200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/>
              <a:t>API documentation: </a:t>
            </a:r>
            <a:r>
              <a:rPr lang="en-US" sz="2200">
                <a:hlinkClick r:id="rId2"/>
              </a:rPr>
              <a:t>http://doc.aldebaran.com/2-5/naoqi/index.html</a:t>
            </a:r>
            <a:r>
              <a:rPr lang="en-US" sz="22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41406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e">
  <a:themeElements>
    <a:clrScheme name="Integral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e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e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97B2CC0A46AC4F9AEEC319A5D986DD" ma:contentTypeVersion="10" ma:contentTypeDescription="Create a new document." ma:contentTypeScope="" ma:versionID="49e7223294b286280a3c825ee6ca1b2a">
  <xsd:schema xmlns:xsd="http://www.w3.org/2001/XMLSchema" xmlns:xs="http://www.w3.org/2001/XMLSchema" xmlns:p="http://schemas.microsoft.com/office/2006/metadata/properties" xmlns:ns2="3db59c47-87aa-4831-b38a-f5382a46a091" targetNamespace="http://schemas.microsoft.com/office/2006/metadata/properties" ma:root="true" ma:fieldsID="96afceb3b12f35ebf654c18e756486ff" ns2:_="">
    <xsd:import namespace="3db59c47-87aa-4831-b38a-f5382a46a0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b59c47-87aa-4831-b38a-f5382a46a0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D77558-7E49-4BC6-973A-4E7C6FB23D7E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B3123DE-D21A-4CCE-804B-C30E765929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50640B-6808-46C6-A5B6-45555A9BE33A}">
  <ds:schemaRefs>
    <ds:schemaRef ds:uri="3db59c47-87aa-4831-b38a-f5382a46a091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Integrale</vt:lpstr>
      <vt:lpstr>PowerPoint Presentation</vt:lpstr>
      <vt:lpstr>SOFTBANK PEPPER ROBOT</vt:lpstr>
      <vt:lpstr>SOFTBANK PEPPER ROBOT</vt:lpstr>
      <vt:lpstr>SOFTBANK PEPPER ROBOT</vt:lpstr>
      <vt:lpstr>Middleware: naoqi</vt:lpstr>
      <vt:lpstr>PROGRAMMING PEPPER</vt:lpstr>
      <vt:lpstr>CHoregraphe</vt:lpstr>
      <vt:lpstr>Choregraphe OVERVIEW</vt:lpstr>
      <vt:lpstr>CHOREGRAPHE OVERVIEW</vt:lpstr>
      <vt:lpstr>PYTHON PROGRAMMING</vt:lpstr>
      <vt:lpstr>PYTHON programming</vt:lpstr>
      <vt:lpstr>PYTHON PROGRAMMING</vt:lpstr>
      <vt:lpstr>PYTHON PROGRAMMING</vt:lpstr>
      <vt:lpstr>Python programming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humanoid robotics</dc:title>
  <dc:creator>Samuele Vinanzi</dc:creator>
  <cp:revision>1</cp:revision>
  <dcterms:created xsi:type="dcterms:W3CDTF">2020-02-03T16:54:50Z</dcterms:created>
  <dcterms:modified xsi:type="dcterms:W3CDTF">2024-10-31T13:56:46Z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0x010100F597B2CC0A46AC4F9AEEC319A5D986DD</vt:lpwstr>
  </property>
</Properties>
</file>