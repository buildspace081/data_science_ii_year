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9" r:id="rId8"/>
    <p:sldId id="258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4" r:id="rId17"/>
    <p:sldId id="286" r:id="rId18"/>
    <p:sldId id="282" r:id="rId19"/>
    <p:sldId id="280" r:id="rId20"/>
    <p:sldId id="270" r:id="rId21"/>
    <p:sldId id="273" r:id="rId22"/>
    <p:sldId id="279" r:id="rId23"/>
    <p:sldId id="285" r:id="rId24"/>
    <p:sldId id="283" r:id="rId25"/>
    <p:sldId id="281" r:id="rId26"/>
    <p:sldId id="284" r:id="rId27"/>
    <p:sldId id="261" r:id="rId28"/>
    <p:sldId id="276" r:id="rId29"/>
    <p:sldId id="277" r:id="rId30"/>
    <p:sldId id="278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41"/>
    <p:restoredTop sz="93099"/>
  </p:normalViewPr>
  <p:slideViewPr>
    <p:cSldViewPr>
      <p:cViewPr varScale="1">
        <p:scale>
          <a:sx n="115" d="100"/>
          <a:sy n="115" d="100"/>
        </p:scale>
        <p:origin x="19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AFABC-B703-953D-5D77-8EF8F4D0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E8016-2EB5-A746-8FD7-4D686BA80302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933F5-0823-F419-A6DA-E65DCFB1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484AA-A2A0-99FF-FE3E-9DED4B7B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A76E8D-13DD-7B41-A341-7EF16956FD79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0467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7BF3F-A482-1609-8F04-F7CC2748B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185E7B-075F-5F42-8816-814DC212A7A8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DFC42-48C2-7EB7-195A-817C7B80E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CDFC5-021E-1D79-3DBA-1D643BC5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452F77-F03F-774D-81D2-C97648550318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5526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A8B81-3AB3-FAC0-CAAD-924E1F933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F5693-96CB-6145-B98A-EBFAD4A027F1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96FB-242C-4422-EFF3-8EE8805F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A95D-840B-79D6-2BD9-AD093616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034F49-DF4B-244D-91ED-42630B3ACB35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5960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B99973C-7478-800C-AA33-76938842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91DF4-A950-9840-8B58-E51F5B038D1E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46667E-EF31-1C9C-3837-9B03A52C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9BE0FC8-353E-DC03-9DFC-CEA63412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88AD3-CF65-3644-88FE-721EC6A429AD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39166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117EBE4-30E6-81C9-A93D-2435DA57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F2983-5BEA-6B4D-AC52-554EDE854F51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4B9FE0B-6BE2-7F04-48FA-7DC65EF6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C96F5C-F5BD-28A3-F357-81794C2D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2F4751-8F54-844D-BB73-9BE3BE38DFF0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956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476F275-D702-E714-8477-71D9CFB1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611D0-A8F3-1548-82AE-DBF19F80FCC6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38C1599-D48F-79BA-AB43-2DD91D0F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8D4AAA-366C-3B91-326B-1643EA81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59FD78-20E2-7245-845A-9F80DF87A6F8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339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83D2C58-63FC-FD71-277D-433632D6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5EA5E-0C7D-1F47-83BB-E85840EDAB3E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FF00E5-9596-7D6C-4D44-47FBD136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284C39-0134-C31F-5C0E-0175D2C4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A76A12-576A-0B44-A671-993DEE268753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5123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6646DE7-CADD-96F1-45A8-03D9DA89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B66B5-50DC-5345-B102-34A8F5B10474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203D14-69B9-8EB7-841F-80E93EC6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35E0EB-2089-12BA-4A7C-FBEB4503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D86C9A-8204-2C4D-8B96-9E83219E8321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1109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3FA5084-49CE-4189-742C-0A6D620FA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F5309-722C-6446-8E43-A6805D63C7FB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22C424D-9C95-3855-6294-D7CF3257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D6F0EEE-9F3E-AF07-6268-14486432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D8BF83-19A3-BD49-8E53-E7E3669CF353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8607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D36FA-DD6C-7786-7C98-3DD70025E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95C8A-388C-0D4D-8916-2EAB52CFABE9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3302-E389-EB26-36DE-9DC1A8B0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82E3A-DCA4-715F-0CEE-206C2403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610F94-A4C8-C643-AA96-55FBE62FBB15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4231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4D12E-F124-587C-A677-A24BF4B0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B9A1D-C90C-F944-8665-68CDF4A55E07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706AC-A154-FC38-5F71-B10E2173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B3D69-5674-7F2C-18FD-9188A046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A8553-0410-F842-BFEF-E72E85D6121D}" type="slidenum">
              <a:rPr lang="en-GB" altLang="en-US"/>
              <a:pPr/>
              <a:t>‹N›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118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AD992C0-4B16-1CF6-D979-B1CBE032F3F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AB4DCE5-7841-D303-6C70-7E04259492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10E89-F5F1-5098-A463-AADEAB7D2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2F943455-8A73-7D4E-B009-3A4049341C69}" type="datetimeFigureOut">
              <a:rPr lang="en-US" altLang="en-US"/>
              <a:pPr>
                <a:defRPr/>
              </a:pPr>
              <a:t>2/14/2025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7221A-C0E8-A824-F33D-EA5780557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CAAF8-1C30-E020-5EDD-F3D69BEB6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62F3D68B-CF18-0047-91E1-362437A481B9}" type="slidenum">
              <a:rPr lang="en-GB" altLang="en-US"/>
              <a:pPr/>
              <a:t>‹N›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ED59C985-CCE4-5B62-CCAF-92D3A7EAE8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(Very Concise) Introduction </a:t>
            </a:r>
            <a:br>
              <a:rPr lang="en-GB" altLang="en-US">
                <a:ea typeface="ＭＳ Ｐゴシック" panose="020B0600070205080204" pitchFamily="34" charset="-128"/>
              </a:rPr>
            </a:br>
            <a:r>
              <a:rPr lang="en-GB" altLang="en-US">
                <a:ea typeface="ＭＳ Ｐゴシック" panose="020B0600070205080204" pitchFamily="34" charset="-128"/>
              </a:rPr>
              <a:t>to Research Methods and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62480-B081-3288-B6F5-4AB050BB4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GB" dirty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  <a:cs typeface="+mn-cs"/>
              </a:rPr>
              <a:t>Angelo Cangelosi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34F163BA-062E-03F1-94E7-77EC9284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Outline</a:t>
            </a:r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2E0BF1CE-4F08-2FB1-D244-54E483E8E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Operationalisation of scientific hypotheses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Experimental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Dependent and independent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Experiment design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Within, between, mixed factorial designs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Data analysis example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ANOVA for comparison of means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demos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B8535B24-C4EC-3D02-EC1F-DF19CAB4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General scientific hypotheses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0B5818DF-A9A7-E53A-682D-50BDAEBE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Language and action bootstrap cognition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Embodiment is essential to understand cognition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Infants have social skills from birth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MSCA DNs produce better researchers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The TRAIL Fellows will become the future leaders in the field of intelligent robotics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8F03F49D-1437-E948-A416-41C1EFD2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From general to specific hypothesis</a:t>
            </a:r>
            <a:br>
              <a:rPr lang="en-GB" altLang="en-US">
                <a:ea typeface="ＭＳ Ｐゴシック" panose="020B0600070205080204" pitchFamily="34" charset="-128"/>
              </a:rPr>
            </a:br>
            <a:r>
              <a:rPr lang="en-GB" altLang="en-US">
                <a:ea typeface="ＭＳ Ｐゴシック" panose="020B0600070205080204" pitchFamily="34" charset="-128"/>
              </a:rPr>
              <a:t>(operationalisation)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BC42B-9A47-4223-9620-7D365BDEA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488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  <a:cs typeface="+mn-cs"/>
              </a:rPr>
              <a:t>The TRAIL ESR Fellows will become the future leaders in the field of robotics and AI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The </a:t>
            </a:r>
            <a:r>
              <a:rPr lang="en-GB" b="1" dirty="0">
                <a:ea typeface="+mn-ea"/>
              </a:rPr>
              <a:t>enrolment </a:t>
            </a:r>
            <a:r>
              <a:rPr lang="en-GB" dirty="0">
                <a:ea typeface="+mn-ea"/>
              </a:rPr>
              <a:t>in the TRAIL DN will enhance the career perspective of students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The </a:t>
            </a:r>
            <a:r>
              <a:rPr lang="en-GB" b="1" dirty="0">
                <a:ea typeface="+mn-ea"/>
              </a:rPr>
              <a:t>participation</a:t>
            </a:r>
            <a:r>
              <a:rPr lang="en-GB" dirty="0">
                <a:ea typeface="+mn-ea"/>
              </a:rPr>
              <a:t> in the TRAIL training workshops will </a:t>
            </a:r>
            <a:r>
              <a:rPr lang="en-GB" b="1" dirty="0">
                <a:ea typeface="+mn-ea"/>
              </a:rPr>
              <a:t>shorten the time to get a job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The participation in the </a:t>
            </a:r>
            <a:r>
              <a:rPr lang="en-GB" dirty="0"/>
              <a:t>TRAIL training workshops </a:t>
            </a:r>
            <a:r>
              <a:rPr lang="en-GB" dirty="0">
                <a:ea typeface="+mn-ea"/>
              </a:rPr>
              <a:t>will shorten the </a:t>
            </a:r>
            <a:r>
              <a:rPr lang="en-GB" b="1" dirty="0">
                <a:ea typeface="+mn-ea"/>
              </a:rPr>
              <a:t>time </a:t>
            </a:r>
            <a:r>
              <a:rPr lang="en-GB" dirty="0">
                <a:ea typeface="+mn-ea"/>
              </a:rPr>
              <a:t>to get a </a:t>
            </a:r>
            <a:r>
              <a:rPr lang="en-GB" b="1" dirty="0">
                <a:ea typeface="+mn-ea"/>
              </a:rPr>
              <a:t>permanent position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The participation in the </a:t>
            </a:r>
            <a:r>
              <a:rPr lang="en-GB" dirty="0"/>
              <a:t>TRAIL training workshops </a:t>
            </a:r>
            <a:r>
              <a:rPr lang="en-GB" dirty="0">
                <a:ea typeface="+mn-ea"/>
              </a:rPr>
              <a:t>will result in above average </a:t>
            </a:r>
            <a:r>
              <a:rPr lang="en-GB" b="1" dirty="0">
                <a:ea typeface="+mn-ea"/>
              </a:rPr>
              <a:t>quality of research (journal impact factor)</a:t>
            </a:r>
            <a:r>
              <a:rPr lang="en-GB" dirty="0">
                <a:ea typeface="+mn-ea"/>
              </a:rPr>
              <a:t> 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The participation in the </a:t>
            </a:r>
            <a:r>
              <a:rPr lang="en-GB" dirty="0"/>
              <a:t>TRAIL training workshops </a:t>
            </a:r>
            <a:r>
              <a:rPr lang="en-GB" dirty="0">
                <a:ea typeface="+mn-ea"/>
              </a:rPr>
              <a:t>will result in above average </a:t>
            </a:r>
            <a:r>
              <a:rPr lang="en-GB" b="1" dirty="0">
                <a:ea typeface="+mn-ea"/>
              </a:rPr>
              <a:t>quality of research (publication citation count)</a:t>
            </a:r>
            <a:r>
              <a:rPr lang="en-GB" dirty="0">
                <a:ea typeface="+mn-ea"/>
              </a:rPr>
              <a:t> 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The participation to the </a:t>
            </a:r>
            <a:r>
              <a:rPr lang="en-GB" dirty="0"/>
              <a:t>TRAIL training workshops </a:t>
            </a:r>
            <a:r>
              <a:rPr lang="en-GB" dirty="0">
                <a:ea typeface="+mn-ea"/>
              </a:rPr>
              <a:t>will result in above average </a:t>
            </a:r>
            <a:r>
              <a:rPr lang="en-GB" b="1" dirty="0">
                <a:ea typeface="+mn-ea"/>
              </a:rPr>
              <a:t>quality of research (grant income)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</a:rPr>
              <a:t>The participation to the </a:t>
            </a:r>
            <a:r>
              <a:rPr lang="en-GB" dirty="0"/>
              <a:t>APRIL training workshops </a:t>
            </a:r>
            <a:r>
              <a:rPr lang="en-GB" dirty="0">
                <a:ea typeface="+mn-ea"/>
              </a:rPr>
              <a:t>will result in researchers with above average academic/industrial </a:t>
            </a:r>
            <a:r>
              <a:rPr lang="en-GB" b="1" dirty="0">
                <a:ea typeface="+mn-ea"/>
              </a:rPr>
              <a:t>salaries</a:t>
            </a:r>
            <a:endParaRPr lang="en-GB" dirty="0">
              <a:ea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GB" dirty="0">
              <a:ea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GB" dirty="0">
              <a:ea typeface="+mn-ea"/>
            </a:endParaRPr>
          </a:p>
          <a:p>
            <a:pPr lvl="2" eaLnBrk="1" fontAlgn="auto" hangingPunct="1">
              <a:spcAft>
                <a:spcPts val="0"/>
              </a:spcAft>
              <a:defRPr/>
            </a:pPr>
            <a:endParaRPr lang="en-GB" dirty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n-GB" dirty="0">
              <a:ea typeface="+mn-ea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n-GB" dirty="0"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66DEE185-6C6B-3226-C83B-038D3A5FD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From general to specific hypothesis</a:t>
            </a:r>
            <a:br>
              <a:rPr lang="en-GB" altLang="en-US">
                <a:ea typeface="ＭＳ Ｐゴシック" panose="020B0600070205080204" pitchFamily="34" charset="-128"/>
              </a:rPr>
            </a:br>
            <a:r>
              <a:rPr lang="en-GB" altLang="en-US">
                <a:ea typeface="ＭＳ Ｐゴシック" panose="020B0600070205080204" pitchFamily="34" charset="-128"/>
              </a:rPr>
              <a:t>(operationalisation)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E92E6-2FA5-63B0-552F-C5E69A30A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72488" cy="4525963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Language and action bootstrap cognition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The parallel development of action and language skills improves hierarchical planning capabilities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The grounding of language in sensorimotor knowledge bootstraps syntax development</a:t>
            </a:r>
          </a:p>
          <a:p>
            <a:pPr lvl="2" eaLnBrk="1" hangingPunct="1"/>
            <a:r>
              <a:rPr lang="en-GB" altLang="en-US">
                <a:ea typeface="ＭＳ Ｐゴシック" panose="020B0600070205080204" pitchFamily="34" charset="-128"/>
              </a:rPr>
              <a:t>The </a:t>
            </a:r>
            <a:r>
              <a:rPr lang="en-GB" altLang="en-US" b="1">
                <a:ea typeface="ＭＳ Ｐゴシック" panose="020B0600070205080204" pitchFamily="34" charset="-128"/>
              </a:rPr>
              <a:t>motor learning </a:t>
            </a:r>
            <a:r>
              <a:rPr lang="en-GB" altLang="en-US">
                <a:ea typeface="ＭＳ Ｐゴシック" panose="020B0600070205080204" pitchFamily="34" charset="-128"/>
              </a:rPr>
              <a:t>of primitive and hierarchies </a:t>
            </a:r>
            <a:r>
              <a:rPr lang="en-GB" altLang="en-US" b="1">
                <a:ea typeface="ＭＳ Ｐゴシック" panose="020B0600070205080204" pitchFamily="34" charset="-128"/>
              </a:rPr>
              <a:t>speeds up </a:t>
            </a:r>
            <a:r>
              <a:rPr lang="en-GB" altLang="en-US">
                <a:ea typeface="ＭＳ Ｐゴシック" panose="020B0600070205080204" pitchFamily="34" charset="-128"/>
              </a:rPr>
              <a:t>the acquisition of compositional syntax rule</a:t>
            </a:r>
          </a:p>
          <a:p>
            <a:pPr lvl="3" eaLnBrk="1" hangingPunct="1"/>
            <a:r>
              <a:rPr lang="en-GB" altLang="en-US">
                <a:ea typeface="ＭＳ Ｐゴシック" panose="020B0600070205080204" pitchFamily="34" charset="-128"/>
              </a:rPr>
              <a:t>Motor learning = action training vs no action training (control)</a:t>
            </a:r>
          </a:p>
          <a:p>
            <a:pPr lvl="3" eaLnBrk="1" hangingPunct="1"/>
            <a:r>
              <a:rPr lang="en-GB" altLang="en-US">
                <a:ea typeface="ＭＳ Ｐゴシック" panose="020B0600070205080204" pitchFamily="34" charset="-128"/>
              </a:rPr>
              <a:t>Syntax performance speeds up (shorter time, lower error, more rules)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57E3991B-0EBA-47D5-A3DC-C23F898C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Operational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8449A-4D87-62BF-56BC-EC0F94121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700">
                <a:ea typeface="ＭＳ Ｐゴシック" panose="020B0600070205080204" pitchFamily="34" charset="-128"/>
              </a:rPr>
              <a:t>Operational definition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>
                <a:ea typeface="ＭＳ Ｐゴシック" panose="020B0600070205080204" pitchFamily="34" charset="-128"/>
              </a:rPr>
              <a:t>The definition of a general or abstract concept in a </a:t>
            </a:r>
            <a:r>
              <a:rPr lang="en-GB" altLang="en-US" sz="2400" b="1">
                <a:ea typeface="ＭＳ Ｐゴシック" panose="020B0600070205080204" pitchFamily="34" charset="-128"/>
              </a:rPr>
              <a:t>measurable and quantifiable </a:t>
            </a:r>
            <a:r>
              <a:rPr lang="en-GB" altLang="en-US" sz="2400">
                <a:ea typeface="ＭＳ Ｐゴシック" panose="020B0600070205080204" pitchFamily="34" charset="-128"/>
              </a:rPr>
              <a:t>way (= </a:t>
            </a:r>
            <a:r>
              <a:rPr lang="en-GB" altLang="en-US" sz="2400" b="1">
                <a:ea typeface="ＭＳ Ｐゴシック" panose="020B0600070205080204" pitchFamily="34" charset="-128"/>
              </a:rPr>
              <a:t>variable</a:t>
            </a:r>
            <a:r>
              <a:rPr lang="en-GB" altLang="en-US" sz="2400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>
              <a:lnSpc>
                <a:spcPct val="80000"/>
              </a:lnSpc>
            </a:pPr>
            <a:endParaRPr lang="en-GB" altLang="en-US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–"/>
            </a:pPr>
            <a:r>
              <a:rPr lang="en-GB" altLang="en-US" sz="2700" b="1">
                <a:ea typeface="ＭＳ Ｐゴシック" panose="020B0600070205080204" pitchFamily="34" charset="-128"/>
              </a:rPr>
              <a:t>Intelligence</a:t>
            </a:r>
            <a:r>
              <a:rPr lang="en-GB" altLang="en-US" sz="2700">
                <a:ea typeface="ＭＳ Ｐゴシック" panose="020B0600070205080204" pitchFamily="34" charset="-128"/>
              </a:rPr>
              <a:t> =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sz="2400">
                <a:ea typeface="ＭＳ Ｐゴシック" panose="020B0600070205080204" pitchFamily="34" charset="-128"/>
              </a:rPr>
              <a:t>IQ, Memory span test, Non-verbal reasoning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sz="2400">
                <a:ea typeface="ＭＳ Ｐゴシック" panose="020B0600070205080204" pitchFamily="34" charset="-128"/>
              </a:rPr>
              <a:t>Degree qualification grade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sz="2400">
                <a:ea typeface="ＭＳ Ｐゴシック" panose="020B0600070205080204" pitchFamily="34" charset="-128"/>
              </a:rPr>
              <a:t>Number of successful APRIL Fellows </a:t>
            </a:r>
            <a:r>
              <a:rPr lang="en-GB" altLang="en-US" sz="2400">
                <a:ea typeface="ＭＳ Ｐゴシック" panose="020B0600070205080204" pitchFamily="34" charset="-128"/>
                <a:sym typeface="Wingdings" pitchFamily="2" charset="2"/>
              </a:rPr>
              <a:t></a:t>
            </a:r>
            <a:r>
              <a:rPr lang="en-GB" altLang="en-US" sz="24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–"/>
            </a:pPr>
            <a:r>
              <a:rPr lang="en-GB" altLang="en-US" sz="2700">
                <a:ea typeface="ＭＳ Ｐゴシック" panose="020B0600070205080204" pitchFamily="34" charset="-128"/>
              </a:rPr>
              <a:t>Robot’s </a:t>
            </a:r>
            <a:r>
              <a:rPr lang="en-GB" altLang="en-US" sz="2700" b="1">
                <a:ea typeface="ＭＳ Ｐゴシック" panose="020B0600070205080204" pitchFamily="34" charset="-128"/>
              </a:rPr>
              <a:t>language </a:t>
            </a:r>
            <a:r>
              <a:rPr lang="en-GB" altLang="en-US" sz="2700">
                <a:ea typeface="ＭＳ Ｐゴシック" panose="020B0600070205080204" pitchFamily="34" charset="-128"/>
              </a:rPr>
              <a:t>acquisition = 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sz="2400">
                <a:ea typeface="ＭＳ Ｐゴシック" panose="020B0600070205080204" pitchFamily="34" charset="-128"/>
              </a:rPr>
              <a:t>Comprehension test scores (number words or rules, success %, recognition speed...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altLang="en-US" sz="2400">
                <a:ea typeface="ＭＳ Ｐゴシック" panose="020B0600070205080204" pitchFamily="34" charset="-128"/>
              </a:rPr>
              <a:t>Production, lexicon size, errors,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4A5C77D3-CBEB-B895-F708-59E37AEB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Experimental variables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98CB6E76-070D-8743-6EFD-51FD5354A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Three different types of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Independent variables (= factors)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Random variables 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Two ways of treating variables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>
                <a:ea typeface="ＭＳ Ｐゴシック" panose="020B0600070205080204" pitchFamily="34" charset="-128"/>
              </a:rPr>
              <a:t>Between subject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GB" altLang="en-US">
                <a:ea typeface="ＭＳ Ｐゴシック" panose="020B0600070205080204" pitchFamily="34" charset="-128"/>
              </a:rPr>
              <a:t>Within subject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D86FB6E8-6382-623A-6975-408428D5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Independent Variables (Factors)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4893BC1-7C72-C466-7EBB-D4AC256FF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An independent variables (aka factor) is a variable that the </a:t>
            </a:r>
            <a:r>
              <a:rPr lang="en-GB" altLang="en-US" b="1">
                <a:ea typeface="ＭＳ Ｐゴシック" panose="020B0600070205080204" pitchFamily="34" charset="-128"/>
              </a:rPr>
              <a:t>researcher manipulates</a:t>
            </a:r>
          </a:p>
          <a:p>
            <a:pPr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Typically, they vary between 2 and 5 (levels)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GB" altLang="en-US">
                <a:ea typeface="ＭＳ Ｐゴシック" panose="020B0600070205080204" pitchFamily="34" charset="-128"/>
              </a:rPr>
              <a:t>Sex (2 levels: M/F)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GB" altLang="en-US">
                <a:ea typeface="ＭＳ Ｐゴシック" panose="020B0600070205080204" pitchFamily="34" charset="-128"/>
              </a:rPr>
              <a:t>Age (young/old) (12m, 18m, 24m...)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GB" altLang="en-US">
                <a:ea typeface="ＭＳ Ｐゴシック" panose="020B0600070205080204" pitchFamily="34" charset="-128"/>
              </a:rPr>
              <a:t>Experimental group (2+ levels: control/experimental)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GB" altLang="en-US">
                <a:ea typeface="ＭＳ Ｐゴシック" panose="020B0600070205080204" pitchFamily="34" charset="-128"/>
              </a:rPr>
              <a:t>Training length (1hour, 2hours, 3hours...)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GB" altLang="en-US">
                <a:ea typeface="ＭＳ Ｐゴシック" panose="020B0600070205080204" pitchFamily="34" charset="-128"/>
              </a:rPr>
              <a:t>Robot type (1=icub, 2=ecce, 3=asimo ...) 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43662B7A-8D76-3B1A-E9CB-8F5E460F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Independent Variables: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42183-40F6-5334-110B-D8B0E40B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>
                <a:ea typeface="+mn-ea"/>
                <a:cs typeface="+mn-cs"/>
              </a:rPr>
              <a:t>Treatment of independent variables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b="1" dirty="0">
                <a:ea typeface="+mn-ea"/>
              </a:rPr>
              <a:t>Between-subject</a:t>
            </a:r>
            <a:r>
              <a:rPr lang="en-GB" dirty="0">
                <a:ea typeface="+mn-ea"/>
              </a:rPr>
              <a:t>: when you compare different conditions in </a:t>
            </a:r>
            <a:r>
              <a:rPr lang="en-GB" u="sng" dirty="0">
                <a:ea typeface="+mn-ea"/>
              </a:rPr>
              <a:t>different individuals</a:t>
            </a:r>
            <a:r>
              <a:rPr lang="en-GB" dirty="0">
                <a:ea typeface="+mn-ea"/>
              </a:rPr>
              <a:t> (subjects/participants)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GB" dirty="0">
                <a:ea typeface="+mn-ea"/>
              </a:rPr>
              <a:t>Sex (2 levels: M/F)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GB" dirty="0">
                <a:ea typeface="+mn-ea"/>
              </a:rPr>
              <a:t>Age (young/old)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GB" dirty="0">
                <a:ea typeface="+mn-ea"/>
              </a:rPr>
              <a:t>Experimental group (e.g. learning effect)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GB" dirty="0">
                <a:ea typeface="+mn-ea"/>
              </a:rPr>
              <a:t>Training length (1hour, 2hours, 3hours...)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b="1" dirty="0">
                <a:ea typeface="+mn-ea"/>
              </a:rPr>
              <a:t>Within-subject</a:t>
            </a:r>
            <a:r>
              <a:rPr lang="en-GB" dirty="0">
                <a:ea typeface="+mn-ea"/>
              </a:rPr>
              <a:t>: When you compare different conditions in the </a:t>
            </a:r>
            <a:r>
              <a:rPr lang="en-GB" u="sng" dirty="0">
                <a:ea typeface="+mn-ea"/>
              </a:rPr>
              <a:t>same individual </a:t>
            </a:r>
            <a:r>
              <a:rPr lang="en-GB" dirty="0">
                <a:ea typeface="+mn-ea"/>
              </a:rPr>
              <a:t>(participant) - aka </a:t>
            </a:r>
            <a:r>
              <a:rPr lang="en-GB" b="1" dirty="0">
                <a:ea typeface="+mn-ea"/>
              </a:rPr>
              <a:t>repeated measures</a:t>
            </a:r>
            <a:endParaRPr lang="en-GB" b="1" u="sng" dirty="0">
              <a:ea typeface="+mn-ea"/>
            </a:endParaRP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GB" dirty="0">
                <a:ea typeface="+mn-ea"/>
              </a:rPr>
              <a:t>Age (12m, 18m, 24m...)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GB" dirty="0">
                <a:ea typeface="+mn-ea"/>
              </a:rPr>
              <a:t>Experimental group (e.g. if no learning effect)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GB" dirty="0">
                <a:ea typeface="+mn-ea"/>
              </a:rPr>
              <a:t>Game (1 and 2)</a:t>
            </a:r>
          </a:p>
          <a:p>
            <a:pPr lvl="2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endParaRPr lang="en-GB" dirty="0"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8B3E27F7-DDCD-C01E-7EBF-A1713636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Random variables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41C0F33E-6497-DF88-E390-4EC580D41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An independent variables that the </a:t>
            </a:r>
            <a:r>
              <a:rPr lang="en-GB" altLang="en-US" b="1">
                <a:ea typeface="ＭＳ Ｐゴシック" panose="020B0600070205080204" pitchFamily="34" charset="-128"/>
              </a:rPr>
              <a:t>researcher does not control directly</a:t>
            </a:r>
            <a:r>
              <a:rPr lang="en-GB" altLang="en-US">
                <a:ea typeface="ＭＳ Ｐゴシック" panose="020B0600070205080204" pitchFamily="34" charset="-128"/>
              </a:rPr>
              <a:t>,</a:t>
            </a:r>
            <a:r>
              <a:rPr lang="en-GB" altLang="en-US" b="1">
                <a:ea typeface="ＭＳ Ｐゴシック" panose="020B0600070205080204" pitchFamily="34" charset="-128"/>
              </a:rPr>
              <a:t> </a:t>
            </a:r>
            <a:r>
              <a:rPr lang="en-GB" altLang="en-US">
                <a:ea typeface="ＭＳ Ｐゴシック" panose="020B0600070205080204" pitchFamily="34" charset="-128"/>
              </a:rPr>
              <a:t>but needs to be considered in the experiment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Not considered in the design, but needs to be aware of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GB" altLang="en-US">
                <a:ea typeface="ＭＳ Ｐゴシック" panose="020B0600070205080204" pitchFamily="34" charset="-128"/>
              </a:rPr>
              <a:t>M/F: choose only female participants ... if you think that sex might possibly influence your experiment but you cannot easily find a balance of F/M participants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r>
              <a:rPr lang="en-GB" altLang="en-US">
                <a:ea typeface="ＭＳ Ｐゴシック" panose="020B0600070205080204" pitchFamily="34" charset="-128"/>
              </a:rPr>
              <a:t>Random assignment to groups</a:t>
            </a: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D5F65B18-BF19-015F-3634-7AEE8F456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Dependent variables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506E2F75-42B3-187D-D01C-62FE3C655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An variable that the </a:t>
            </a:r>
            <a:r>
              <a:rPr lang="en-GB" altLang="en-US" b="1">
                <a:ea typeface="ＭＳ Ｐゴシック" panose="020B0600070205080204" pitchFamily="34" charset="-128"/>
              </a:rPr>
              <a:t>researcher measures </a:t>
            </a:r>
            <a:r>
              <a:rPr lang="en-GB" altLang="en-US">
                <a:ea typeface="ＭＳ Ｐゴシック" panose="020B0600070205080204" pitchFamily="34" charset="-128"/>
              </a:rPr>
              <a:t>during the experiment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Any quantifiable measure of performance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Number of errors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Learning success (percentage, points....)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Intelligence/IQ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Number of words learned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Memory span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Results in test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....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07CB981C-8BAB-FA08-EBBC-BDB95501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Experimental Design (Factorial)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1821D73C-A56A-197E-DCCF-D6192069B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The exact definition of the </a:t>
            </a:r>
            <a:r>
              <a:rPr lang="en-GB" altLang="en-US" b="1">
                <a:ea typeface="ＭＳ Ｐゴシック" panose="020B0600070205080204" pitchFamily="34" charset="-128"/>
              </a:rPr>
              <a:t>different experimental conditions </a:t>
            </a:r>
            <a:r>
              <a:rPr lang="en-GB" altLang="en-US">
                <a:ea typeface="ＭＳ Ｐゴシック" panose="020B0600070205080204" pitchFamily="34" charset="-128"/>
              </a:rPr>
              <a:t>due to the cross/combination of the independent variables (factors)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Design types</a:t>
            </a:r>
          </a:p>
          <a:p>
            <a:pPr lvl="1" eaLnBrk="1" hangingPunct="1"/>
            <a:r>
              <a:rPr lang="en-GB" altLang="en-US" sz="2400">
                <a:ea typeface="ＭＳ Ｐゴシック" panose="020B0600070205080204" pitchFamily="34" charset="-128"/>
              </a:rPr>
              <a:t>One-way between-subject</a:t>
            </a:r>
          </a:p>
          <a:p>
            <a:pPr lvl="1" eaLnBrk="1" hangingPunct="1"/>
            <a:r>
              <a:rPr lang="en-GB" altLang="en-US" sz="2400">
                <a:ea typeface="ＭＳ Ｐゴシック" panose="020B0600070205080204" pitchFamily="34" charset="-128"/>
              </a:rPr>
              <a:t>One-way (repeated ) within-subject</a:t>
            </a:r>
          </a:p>
          <a:p>
            <a:pPr lvl="1" eaLnBrk="1" hangingPunct="1"/>
            <a:r>
              <a:rPr lang="en-GB" altLang="en-US" sz="2400">
                <a:ea typeface="ＭＳ Ｐゴシック" panose="020B0600070205080204" pitchFamily="34" charset="-128"/>
              </a:rPr>
              <a:t>Factorial full between-subject</a:t>
            </a:r>
          </a:p>
          <a:p>
            <a:pPr lvl="1" eaLnBrk="1" hangingPunct="1"/>
            <a:r>
              <a:rPr lang="en-GB" altLang="en-US" sz="2400">
                <a:ea typeface="ＭＳ Ｐゴシック" panose="020B0600070205080204" pitchFamily="34" charset="-128"/>
              </a:rPr>
              <a:t>Factorial full within-subject (repeated measures only)</a:t>
            </a:r>
          </a:p>
          <a:p>
            <a:pPr lvl="1" eaLnBrk="1" hangingPunct="1"/>
            <a:r>
              <a:rPr lang="en-GB" altLang="en-US" sz="2400">
                <a:ea typeface="ＭＳ Ｐゴシック" panose="020B0600070205080204" pitchFamily="34" charset="-128"/>
              </a:rPr>
              <a:t>Factorial mixed design (some within, some between)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9D14E532-F19D-BD42-B789-248E8CB0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 dirty="0">
                <a:ea typeface="ＭＳ Ｐゴシック" panose="020B0600070205080204" pitchFamily="34" charset="-128"/>
              </a:rPr>
              <a:t>One</a:t>
            </a:r>
            <a:r>
              <a:rPr lang="en-GB" altLang="en-US" dirty="0">
                <a:ea typeface="ＭＳ Ｐゴシック" panose="020B0600070205080204" pitchFamily="34" charset="-128"/>
              </a:rPr>
              <a:t>-Way </a:t>
            </a:r>
            <a:r>
              <a:rPr lang="en-GB" altLang="en-US" b="1" dirty="0">
                <a:ea typeface="ＭＳ Ｐゴシック" panose="020B0600070205080204" pitchFamily="34" charset="-128"/>
              </a:rPr>
              <a:t>Between</a:t>
            </a:r>
            <a:r>
              <a:rPr lang="en-GB" altLang="en-US" dirty="0">
                <a:ea typeface="ＭＳ Ｐゴシック" panose="020B0600070205080204" pitchFamily="34" charset="-128"/>
              </a:rPr>
              <a:t>-Subject Design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97A529A3-C616-8B7B-CEFC-4A0485F4C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500188"/>
            <a:ext cx="9001125" cy="4525962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One between-subject 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ROBOT type with 2 levels (iCub, Nao) – </a:t>
            </a:r>
            <a:r>
              <a:rPr lang="en-GB" altLang="en-US" i="1">
                <a:ea typeface="ＭＳ Ｐゴシック" panose="020B0600070205080204" pitchFamily="34" charset="-128"/>
              </a:rPr>
              <a:t>between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Two 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understanding test score, production test score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Factorial design: 2 (one-way)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07808C-3F99-6DB6-27E5-66B291F89FEB}"/>
              </a:ext>
            </a:extLst>
          </p:cNvPr>
          <p:cNvGraphicFramePr>
            <a:graphicFrameLocks noGrp="1"/>
          </p:cNvGraphicFramePr>
          <p:nvPr/>
        </p:nvGraphicFramePr>
        <p:xfrm>
          <a:off x="1000125" y="4357688"/>
          <a:ext cx="3429000" cy="1652587"/>
        </p:xfrm>
        <a:graphic>
          <a:graphicData uri="http://schemas.openxmlformats.org/drawingml/2006/table">
            <a:tbl>
              <a:tblPr/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7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score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4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4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Nao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6DC1EA-F2FA-68DC-8EB2-7262A9E3859F}"/>
              </a:ext>
            </a:extLst>
          </p:cNvPr>
          <p:cNvGraphicFramePr>
            <a:graphicFrameLocks noGrp="1"/>
          </p:cNvGraphicFramePr>
          <p:nvPr/>
        </p:nvGraphicFramePr>
        <p:xfrm>
          <a:off x="4929188" y="4357688"/>
          <a:ext cx="3429000" cy="1652587"/>
        </p:xfrm>
        <a:graphic>
          <a:graphicData uri="http://schemas.openxmlformats.org/drawingml/2006/table">
            <a:tbl>
              <a:tblPr/>
              <a:tblGrid>
                <a:gridCol w="121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7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score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4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production score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4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Nao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production score</a:t>
                      </a:r>
                    </a:p>
                  </a:txBody>
                  <a:tcPr marL="91439" marR="91439"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428F99A-7FD8-750C-8C80-717C3ACB7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6308725"/>
            <a:ext cx="6313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T-TEST for the 2 means comparison (ANOVA for 2+ means)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BC9B86C5-94D9-BB77-4C49-BE6CD8411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 dirty="0">
                <a:ea typeface="ＭＳ Ｐゴシック" panose="020B0600070205080204" pitchFamily="34" charset="-128"/>
              </a:rPr>
              <a:t>One</a:t>
            </a:r>
            <a:r>
              <a:rPr lang="en-GB" altLang="en-US" dirty="0">
                <a:ea typeface="ＭＳ Ｐゴシック" panose="020B0600070205080204" pitchFamily="34" charset="-128"/>
              </a:rPr>
              <a:t>-Way </a:t>
            </a:r>
            <a:r>
              <a:rPr lang="en-GB" altLang="en-US" b="1" dirty="0">
                <a:ea typeface="ＭＳ Ｐゴシック" panose="020B0600070205080204" pitchFamily="34" charset="-128"/>
              </a:rPr>
              <a:t>Between</a:t>
            </a:r>
            <a:r>
              <a:rPr lang="en-GB" altLang="en-US" dirty="0">
                <a:ea typeface="ＭＳ Ｐゴシック" panose="020B0600070205080204" pitchFamily="34" charset="-128"/>
              </a:rPr>
              <a:t>-Subject Design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20AEC908-47D5-58FE-17AE-4F63D2A7B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500188"/>
            <a:ext cx="9001125" cy="4525962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One between-subject 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ROBOT type with 3 levels (iCub, Nao, Asimo) – </a:t>
            </a:r>
            <a:r>
              <a:rPr lang="en-GB" altLang="en-US" i="1">
                <a:ea typeface="ＭＳ Ｐゴシック" panose="020B0600070205080204" pitchFamily="34" charset="-128"/>
              </a:rPr>
              <a:t>between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Two 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understanding test score, production test score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Factorial design: 3 (one-way)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C7909E-C8F0-EF64-BA90-7EF7A2751CDE}"/>
              </a:ext>
            </a:extLst>
          </p:cNvPr>
          <p:cNvGraphicFramePr>
            <a:graphicFrameLocks noGrp="1"/>
          </p:cNvGraphicFramePr>
          <p:nvPr/>
        </p:nvGraphicFramePr>
        <p:xfrm>
          <a:off x="1000125" y="4357688"/>
          <a:ext cx="3429000" cy="2292349"/>
        </p:xfrm>
        <a:graphic>
          <a:graphicData uri="http://schemas.openxmlformats.org/drawingml/2006/table">
            <a:tbl>
              <a:tblPr/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5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Nao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Asimo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12C666-1812-DE63-0D7D-3747619AD4FC}"/>
              </a:ext>
            </a:extLst>
          </p:cNvPr>
          <p:cNvGraphicFramePr>
            <a:graphicFrameLocks noGrp="1"/>
          </p:cNvGraphicFramePr>
          <p:nvPr/>
        </p:nvGraphicFramePr>
        <p:xfrm>
          <a:off x="4929188" y="4357688"/>
          <a:ext cx="3429000" cy="2292349"/>
        </p:xfrm>
        <a:graphic>
          <a:graphicData uri="http://schemas.openxmlformats.org/drawingml/2006/table">
            <a:tbl>
              <a:tblPr/>
              <a:tblGrid>
                <a:gridCol w="121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5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production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Nao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production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Asimo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production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19BCCC2F-8982-0334-99CB-DBA83C65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 dirty="0">
                <a:ea typeface="ＭＳ Ｐゴシック" panose="020B0600070205080204" pitchFamily="34" charset="-128"/>
              </a:rPr>
              <a:t>One</a:t>
            </a:r>
            <a:r>
              <a:rPr lang="en-GB" altLang="en-US" dirty="0">
                <a:ea typeface="ＭＳ Ｐゴシック" panose="020B0600070205080204" pitchFamily="34" charset="-128"/>
              </a:rPr>
              <a:t>-Way </a:t>
            </a:r>
            <a:r>
              <a:rPr lang="en-GB" altLang="en-US" b="1" dirty="0">
                <a:ea typeface="ＭＳ Ｐゴシック" panose="020B0600070205080204" pitchFamily="34" charset="-128"/>
              </a:rPr>
              <a:t>Within</a:t>
            </a:r>
            <a:r>
              <a:rPr lang="en-GB" altLang="en-US" dirty="0">
                <a:ea typeface="ＭＳ Ｐゴシック" panose="020B0600070205080204" pitchFamily="34" charset="-128"/>
              </a:rPr>
              <a:t>-Subject Design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6B1C63DF-E429-6814-D433-40E8A3079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500188"/>
            <a:ext cx="9001125" cy="4525962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One repeated 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AGE of robot with 3 levels (1month, 2m, 3m) - </a:t>
            </a:r>
            <a:r>
              <a:rPr lang="en-GB" altLang="en-US" i="1">
                <a:ea typeface="ＭＳ Ｐゴシック" panose="020B0600070205080204" pitchFamily="34" charset="-128"/>
              </a:rPr>
              <a:t>within</a:t>
            </a:r>
            <a:endParaRPr lang="en-GB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Two 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understanding test score, production test score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Factorial design: 3 (one-way)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35B503-513B-F50A-398D-4517AE859B75}"/>
              </a:ext>
            </a:extLst>
          </p:cNvPr>
          <p:cNvGraphicFramePr>
            <a:graphicFrameLocks noGrp="1"/>
          </p:cNvGraphicFramePr>
          <p:nvPr/>
        </p:nvGraphicFramePr>
        <p:xfrm>
          <a:off x="1000125" y="4357688"/>
          <a:ext cx="3429000" cy="2292349"/>
        </p:xfrm>
        <a:graphic>
          <a:graphicData uri="http://schemas.openxmlformats.org/drawingml/2006/table">
            <a:tbl>
              <a:tblPr/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5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1-month old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2-month old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3-month-old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906225-C564-67C8-1A15-8D577753986E}"/>
              </a:ext>
            </a:extLst>
          </p:cNvPr>
          <p:cNvGraphicFramePr>
            <a:graphicFrameLocks noGrp="1"/>
          </p:cNvGraphicFramePr>
          <p:nvPr/>
        </p:nvGraphicFramePr>
        <p:xfrm>
          <a:off x="4929188" y="4357688"/>
          <a:ext cx="3429000" cy="2292349"/>
        </p:xfrm>
        <a:graphic>
          <a:graphicData uri="http://schemas.openxmlformats.org/drawingml/2006/table">
            <a:tbl>
              <a:tblPr/>
              <a:tblGrid>
                <a:gridCol w="121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5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1-month old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production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2-month old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production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3-month old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production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FE156894-BFAD-2147-5CD0-7AA0B0A3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74638"/>
            <a:ext cx="8901113" cy="1143000"/>
          </a:xfrm>
        </p:spPr>
        <p:txBody>
          <a:bodyPr/>
          <a:lstStyle/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Factorial </a:t>
            </a:r>
            <a:r>
              <a:rPr lang="en-GB" altLang="en-US" b="1" dirty="0">
                <a:ea typeface="ＭＳ Ｐゴシック" panose="020B0600070205080204" pitchFamily="34" charset="-128"/>
              </a:rPr>
              <a:t>Full Between</a:t>
            </a:r>
            <a:r>
              <a:rPr lang="en-GB" altLang="en-US" dirty="0">
                <a:ea typeface="ＭＳ Ｐゴシック" panose="020B0600070205080204" pitchFamily="34" charset="-128"/>
              </a:rPr>
              <a:t>-Subject Design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363D57A5-774E-FAE0-8DAA-695DF4DF3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Two between-subject 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ROBOT type with 2 levels (iCub, Nao) - </a:t>
            </a:r>
            <a:r>
              <a:rPr lang="en-GB" altLang="en-US" i="1">
                <a:ea typeface="ＭＳ Ｐゴシック" panose="020B0600070205080204" pitchFamily="34" charset="-128"/>
              </a:rPr>
              <a:t>between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TRAINING experience with 2 levels (no-training, training) - </a:t>
            </a:r>
            <a:r>
              <a:rPr lang="en-GB" altLang="en-US" i="1">
                <a:ea typeface="ＭＳ Ｐゴシック" panose="020B0600070205080204" pitchFamily="34" charset="-128"/>
              </a:rPr>
              <a:t>between</a:t>
            </a:r>
            <a:endParaRPr lang="en-GB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One dependent variable: test score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Factorial design: 2 x 2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C9831B-477B-A51C-C7CE-3050F6386959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4992688"/>
          <a:ext cx="6096000" cy="1114425"/>
        </p:xfrm>
        <a:graphic>
          <a:graphicData uri="http://schemas.openxmlformats.org/drawingml/2006/table">
            <a:tbl>
              <a:tblPr/>
              <a:tblGrid>
                <a:gridCol w="121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No-training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Training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Nao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7E4AC1C9-7C37-2C7F-BC2E-ACBB65BE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/>
          <a:lstStyle/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Factorial </a:t>
            </a:r>
            <a:r>
              <a:rPr lang="en-GB" altLang="en-US" b="1" dirty="0">
                <a:ea typeface="ＭＳ Ｐゴシック" panose="020B0600070205080204" pitchFamily="34" charset="-128"/>
              </a:rPr>
              <a:t>Full Within</a:t>
            </a:r>
            <a:r>
              <a:rPr lang="en-GB" altLang="en-US" dirty="0">
                <a:ea typeface="ＭＳ Ｐゴシック" panose="020B0600070205080204" pitchFamily="34" charset="-128"/>
              </a:rPr>
              <a:t>-Subject Design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9FCC81E7-D0DB-2F37-3D7A-DC1246634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Two repeated 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AGE of robot with 3 levels (1month, 2m, 3m) - </a:t>
            </a:r>
            <a:r>
              <a:rPr lang="en-GB" altLang="en-US" i="1">
                <a:ea typeface="ＭＳ Ｐゴシック" panose="020B0600070205080204" pitchFamily="34" charset="-128"/>
              </a:rPr>
              <a:t>within</a:t>
            </a:r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TRAINING experience with 2 levels (pre, post) - </a:t>
            </a:r>
            <a:r>
              <a:rPr lang="en-GB" altLang="en-US" i="1">
                <a:ea typeface="ＭＳ Ｐゴシック" panose="020B0600070205080204" pitchFamily="34" charset="-128"/>
              </a:rPr>
              <a:t>within</a:t>
            </a:r>
            <a:endParaRPr lang="en-GB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One dependent variable: test score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Factorial design: 3 x 2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1D95BC-0DBE-FBC1-57B0-9D1301B60E2E}"/>
              </a:ext>
            </a:extLst>
          </p:cNvPr>
          <p:cNvGraphicFramePr>
            <a:graphicFrameLocks noGrp="1"/>
          </p:cNvGraphicFramePr>
          <p:nvPr/>
        </p:nvGraphicFramePr>
        <p:xfrm>
          <a:off x="1404938" y="4643438"/>
          <a:ext cx="6096000" cy="1651123"/>
        </p:xfrm>
        <a:graphic>
          <a:graphicData uri="http://schemas.openxmlformats.org/drawingml/2006/table">
            <a:tbl>
              <a:tblPr/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5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1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 month old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 month old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 month old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9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9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Post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C744BA55-39A4-8993-29B7-D41347AA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 dirty="0">
                <a:ea typeface="ＭＳ Ｐゴシック" panose="020B0600070205080204" pitchFamily="34" charset="-128"/>
              </a:rPr>
              <a:t>Mixed</a:t>
            </a:r>
            <a:r>
              <a:rPr lang="en-GB" altLang="en-US" dirty="0">
                <a:ea typeface="ＭＳ Ｐゴシック" panose="020B0600070205080204" pitchFamily="34" charset="-128"/>
              </a:rPr>
              <a:t> Design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4EF90F91-F4FD-8BB9-CBAC-81E7FDF8D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600200"/>
            <a:ext cx="8929687" cy="4525963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Two 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ROBOT type with 3 levels (iCub, Nao, Asimo) - </a:t>
            </a:r>
            <a:r>
              <a:rPr lang="en-GB" altLang="en-US" i="1">
                <a:ea typeface="ＭＳ Ｐゴシック" panose="020B0600070205080204" pitchFamily="34" charset="-128"/>
              </a:rPr>
              <a:t>between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TRAINING experience with 2 levels (pre, post) - </a:t>
            </a:r>
            <a:r>
              <a:rPr lang="en-GB" altLang="en-US" i="1">
                <a:ea typeface="ＭＳ Ｐゴシック" panose="020B0600070205080204" pitchFamily="34" charset="-128"/>
              </a:rPr>
              <a:t>within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One dependent variable: test score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Factorial design: 3 x 2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399C15-C4A1-995F-E6ED-9D62A7D7038F}"/>
              </a:ext>
            </a:extLst>
          </p:cNvPr>
          <p:cNvGraphicFramePr>
            <a:graphicFrameLocks noGrp="1"/>
          </p:cNvGraphicFramePr>
          <p:nvPr/>
        </p:nvGraphicFramePr>
        <p:xfrm>
          <a:off x="1404938" y="4857750"/>
          <a:ext cx="6096000" cy="1479552"/>
        </p:xfrm>
        <a:graphic>
          <a:graphicData uri="http://schemas.openxmlformats.org/drawingml/2006/table">
            <a:tbl>
              <a:tblPr/>
              <a:tblGrid>
                <a:gridCol w="121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Pre-training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Post-taining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Nao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Asimo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3BEBEE8A-CDC5-90C7-FC53-EBD53963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Analysis of results:</a:t>
            </a:r>
            <a:br>
              <a:rPr lang="en-GB" altLang="en-US">
                <a:ea typeface="ＭＳ Ｐゴシック" panose="020B0600070205080204" pitchFamily="34" charset="-128"/>
              </a:rPr>
            </a:br>
            <a:r>
              <a:rPr lang="en-GB" altLang="en-US">
                <a:ea typeface="ＭＳ Ｐゴシック" panose="020B0600070205080204" pitchFamily="34" charset="-128"/>
              </a:rPr>
              <a:t>Comparison of means with ANOVA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CAD5F95F-C712-0168-1C6A-1BBD4F987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1600200"/>
            <a:ext cx="9145588" cy="4525963"/>
          </a:xfrm>
        </p:spPr>
        <p:txBody>
          <a:bodyPr/>
          <a:lstStyle/>
          <a:p>
            <a:pPr eaLnBrk="1" hangingPunct="1"/>
            <a:r>
              <a:rPr lang="en-GB" altLang="en-US" sz="2800">
                <a:ea typeface="ＭＳ Ｐゴシック" panose="020B0600070205080204" pitchFamily="34" charset="-128"/>
              </a:rPr>
              <a:t>ANOVA: ANalysis Of Variance</a:t>
            </a:r>
          </a:p>
          <a:p>
            <a:pPr lvl="1" eaLnBrk="1" hangingPunct="1"/>
            <a:r>
              <a:rPr lang="en-GB" altLang="en-US" sz="2000">
                <a:ea typeface="ＭＳ Ｐゴシック" panose="020B0600070205080204" pitchFamily="34" charset="-128"/>
              </a:rPr>
              <a:t>Statistical comparison of means in different conditions</a:t>
            </a:r>
          </a:p>
          <a:p>
            <a:pPr lvl="1" eaLnBrk="1" hangingPunct="1"/>
            <a:r>
              <a:rPr lang="en-GB" altLang="en-US" sz="2000">
                <a:ea typeface="ＭＳ Ｐゴシック" panose="020B0600070205080204" pitchFamily="34" charset="-128"/>
              </a:rPr>
              <a:t>Repeated measure ANOVA (MANOVA only in SPSS for repeated/mixed designs)</a:t>
            </a:r>
          </a:p>
          <a:p>
            <a:pPr eaLnBrk="1" hangingPunct="1"/>
            <a:r>
              <a:rPr lang="en-GB" altLang="en-US" sz="2800">
                <a:ea typeface="ＭＳ Ｐゴシック" panose="020B0600070205080204" pitchFamily="34" charset="-128"/>
              </a:rPr>
              <a:t>Main factors</a:t>
            </a:r>
          </a:p>
          <a:p>
            <a:pPr lvl="1" eaLnBrk="1" hangingPunct="1"/>
            <a:r>
              <a:rPr lang="en-GB" altLang="en-US" sz="2000">
                <a:ea typeface="ＭＳ Ｐゴシック" panose="020B0600070205080204" pitchFamily="34" charset="-128"/>
              </a:rPr>
              <a:t>Compare ROBOT’s performance:  </a:t>
            </a:r>
            <a:r>
              <a:rPr lang="en-GB" altLang="en-US" sz="1800">
                <a:ea typeface="ＭＳ Ｐゴシック" panose="020B0600070205080204" pitchFamily="34" charset="-128"/>
              </a:rPr>
              <a:t>icub vs ecce vs asimo</a:t>
            </a:r>
            <a:endParaRPr lang="en-GB" altLang="en-US" sz="2000" i="1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GB" altLang="en-US" sz="2000">
                <a:ea typeface="ＭＳ Ｐゴシック" panose="020B0600070205080204" pitchFamily="34" charset="-128"/>
              </a:rPr>
              <a:t>Compare TRAINING performance:  </a:t>
            </a:r>
            <a:r>
              <a:rPr lang="en-GB" altLang="en-US" sz="1800">
                <a:ea typeface="ＭＳ Ｐゴシック" panose="020B0600070205080204" pitchFamily="34" charset="-128"/>
              </a:rPr>
              <a:t>pre vs post </a:t>
            </a:r>
            <a:endParaRPr lang="en-GB" altLang="en-US" sz="2000" i="1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Interaction</a:t>
            </a:r>
          </a:p>
          <a:p>
            <a:pPr lvl="1" eaLnBrk="1" hangingPunct="1"/>
            <a:r>
              <a:rPr lang="en-GB" altLang="en-US" sz="2000">
                <a:ea typeface="ＭＳ Ｐゴシック" panose="020B0600070205080204" pitchFamily="34" charset="-128"/>
              </a:rPr>
              <a:t>Compare TRAINING x ROBOT interaction conditions</a:t>
            </a:r>
            <a:endParaRPr lang="en-GB" altLang="en-US" sz="2000" i="1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 sz="2400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EC3D6F6-76CE-B721-C33F-620B5775594E}"/>
              </a:ext>
            </a:extLst>
          </p:cNvPr>
          <p:cNvGraphicFramePr>
            <a:graphicFrameLocks noGrp="1"/>
          </p:cNvGraphicFramePr>
          <p:nvPr/>
        </p:nvGraphicFramePr>
        <p:xfrm>
          <a:off x="1404938" y="5114925"/>
          <a:ext cx="6096000" cy="1479552"/>
        </p:xfrm>
        <a:graphic>
          <a:graphicData uri="http://schemas.openxmlformats.org/drawingml/2006/table">
            <a:tbl>
              <a:tblPr/>
              <a:tblGrid>
                <a:gridCol w="121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Pre-training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Post-taining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Nao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Asimo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63577AB5-E03B-9CC6-6595-2242B00D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ANOVA DEMO: </a:t>
            </a:r>
            <a:br>
              <a:rPr lang="en-GB" altLang="en-US">
                <a:ea typeface="ＭＳ Ｐゴシック" panose="020B0600070205080204" pitchFamily="34" charset="-128"/>
              </a:rPr>
            </a:br>
            <a:r>
              <a:rPr lang="en-GB" altLang="en-US">
                <a:ea typeface="ＭＳ Ｐゴシック" panose="020B0600070205080204" pitchFamily="34" charset="-128"/>
              </a:rPr>
              <a:t>ONE WAY (BETWEEN) 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250B7703-1072-687A-C321-DAB116C0C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ROBOT type with 3 levels (icub, ecce, asimo) – </a:t>
            </a:r>
            <a:r>
              <a:rPr lang="en-GB" altLang="en-US" i="1">
                <a:ea typeface="ＭＳ Ｐゴシック" panose="020B0600070205080204" pitchFamily="34" charset="-128"/>
              </a:rPr>
              <a:t>between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One-way design: 3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4A3BC3-B7CE-C6E0-B97C-CC34ACC2E483}"/>
              </a:ext>
            </a:extLst>
          </p:cNvPr>
          <p:cNvCxnSpPr>
            <a:cxnSpLocks noChangeShapeType="1"/>
          </p:cNvCxnSpPr>
          <p:nvPr/>
        </p:nvCxnSpPr>
        <p:spPr bwMode="auto">
          <a:xfrm rot="2700000">
            <a:off x="6924675" y="5138738"/>
            <a:ext cx="142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5F87F2-931C-BEAF-482F-42548A579B80}"/>
              </a:ext>
            </a:extLst>
          </p:cNvPr>
          <p:cNvCxnSpPr/>
          <p:nvPr/>
        </p:nvCxnSpPr>
        <p:spPr>
          <a:xfrm rot="18900000" flipH="1">
            <a:off x="6924675" y="5148263"/>
            <a:ext cx="142875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32773" name="Group 34">
            <a:extLst>
              <a:ext uri="{FF2B5EF4-FFF2-40B4-BE49-F238E27FC236}">
                <a16:creationId xmlns:a16="http://schemas.microsoft.com/office/drawing/2014/main" id="{8CBABA2E-10F9-10E5-BD7D-EA3CA423CC65}"/>
              </a:ext>
            </a:extLst>
          </p:cNvPr>
          <p:cNvGrpSpPr>
            <a:grpSpLocks/>
          </p:cNvGrpSpPr>
          <p:nvPr/>
        </p:nvGrpSpPr>
        <p:grpSpPr bwMode="auto">
          <a:xfrm>
            <a:off x="5214938" y="4143375"/>
            <a:ext cx="3714750" cy="2286000"/>
            <a:chOff x="500034" y="1500174"/>
            <a:chExt cx="2643206" cy="22860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F9E0FA-3C7D-9558-0B76-283238502091}"/>
                </a:ext>
              </a:extLst>
            </p:cNvPr>
            <p:cNvSpPr/>
            <p:nvPr/>
          </p:nvSpPr>
          <p:spPr>
            <a:xfrm>
              <a:off x="500034" y="1500174"/>
              <a:ext cx="2643206" cy="22860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2795" name="Group 36">
              <a:extLst>
                <a:ext uri="{FF2B5EF4-FFF2-40B4-BE49-F238E27FC236}">
                  <a16:creationId xmlns:a16="http://schemas.microsoft.com/office/drawing/2014/main" id="{6E96CD85-0249-F69B-0716-80A7F829B1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5637" y="1716076"/>
              <a:ext cx="2001851" cy="1643075"/>
              <a:chOff x="1141389" y="2144704"/>
              <a:chExt cx="2001851" cy="1643075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4026D9F0-E13F-4979-2D40-517A7BFD199F}"/>
                  </a:ext>
                </a:extLst>
              </p:cNvPr>
              <p:cNvCxnSpPr/>
              <p:nvPr/>
            </p:nvCxnSpPr>
            <p:spPr>
              <a:xfrm rot="5400000" flipH="1" flipV="1">
                <a:off x="320628" y="2965678"/>
                <a:ext cx="1643077" cy="113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A163772-A402-802D-E29B-5379C8AE20F1}"/>
                  </a:ext>
                </a:extLst>
              </p:cNvPr>
              <p:cNvCxnSpPr/>
              <p:nvPr/>
            </p:nvCxnSpPr>
            <p:spPr>
              <a:xfrm>
                <a:off x="1142732" y="3786193"/>
                <a:ext cx="2000477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796" name="TextBox 37">
              <a:extLst>
                <a:ext uri="{FF2B5EF4-FFF2-40B4-BE49-F238E27FC236}">
                  <a16:creationId xmlns:a16="http://schemas.microsoft.com/office/drawing/2014/main" id="{845F5832-1D10-5898-5BE7-7D5211742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9173" y="3324525"/>
              <a:ext cx="1982404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Icub             ecce           asimo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             ROBOT</a:t>
              </a:r>
            </a:p>
          </p:txBody>
        </p:sp>
        <p:sp>
          <p:nvSpPr>
            <p:cNvPr id="32797" name="TextBox 38">
              <a:extLst>
                <a:ext uri="{FF2B5EF4-FFF2-40B4-BE49-F238E27FC236}">
                  <a16:creationId xmlns:a16="http://schemas.microsoft.com/office/drawing/2014/main" id="{8712E95B-5E17-BE83-AB7D-7718DFAC0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BD048E0-0AC0-7AF9-15B7-0173E4BE8B1C}"/>
              </a:ext>
            </a:extLst>
          </p:cNvPr>
          <p:cNvGraphicFramePr>
            <a:graphicFrameLocks noGrp="1"/>
          </p:cNvGraphicFramePr>
          <p:nvPr/>
        </p:nvGraphicFramePr>
        <p:xfrm>
          <a:off x="1000125" y="4071938"/>
          <a:ext cx="3429000" cy="2292349"/>
        </p:xfrm>
        <a:graphic>
          <a:graphicData uri="http://schemas.openxmlformats.org/drawingml/2006/table">
            <a:tbl>
              <a:tblPr/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5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Ecce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asimo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09DABADC-F365-9E9F-2417-1193DDD655ED}"/>
              </a:ext>
            </a:extLst>
          </p:cNvPr>
          <p:cNvSpPr/>
          <p:nvPr/>
        </p:nvSpPr>
        <p:spPr>
          <a:xfrm>
            <a:off x="6143625" y="4740275"/>
            <a:ext cx="142875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4F8672-7E69-F24F-4645-747388971981}"/>
              </a:ext>
            </a:extLst>
          </p:cNvPr>
          <p:cNvSpPr/>
          <p:nvPr/>
        </p:nvSpPr>
        <p:spPr>
          <a:xfrm>
            <a:off x="7072313" y="5143500"/>
            <a:ext cx="142875" cy="8572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DC372E-1531-4B19-846B-9E00F0B4C91A}"/>
              </a:ext>
            </a:extLst>
          </p:cNvPr>
          <p:cNvSpPr/>
          <p:nvPr/>
        </p:nvSpPr>
        <p:spPr>
          <a:xfrm>
            <a:off x="7929563" y="5640388"/>
            <a:ext cx="142875" cy="36036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2993321A-D5CE-33D6-AAFD-F8E61F0A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ea typeface="ＭＳ Ｐゴシック" panose="020B0600070205080204" pitchFamily="34" charset="-128"/>
              </a:rPr>
              <a:t>M</a:t>
            </a:r>
            <a:r>
              <a:rPr lang="en-GB" altLang="en-US">
                <a:ea typeface="ＭＳ Ｐゴシック" panose="020B0600070205080204" pitchFamily="34" charset="-128"/>
              </a:rPr>
              <a:t>ANOVA DEMO: </a:t>
            </a:r>
            <a:br>
              <a:rPr lang="en-GB" altLang="en-US">
                <a:ea typeface="ＭＳ Ｐゴシック" panose="020B0600070205080204" pitchFamily="34" charset="-128"/>
              </a:rPr>
            </a:br>
            <a:r>
              <a:rPr lang="en-GB" altLang="en-US">
                <a:ea typeface="ＭＳ Ｐゴシック" panose="020B0600070205080204" pitchFamily="34" charset="-128"/>
              </a:rPr>
              <a:t>ONE WAY (WITHIN) </a:t>
            </a:r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E0D6223D-9D4C-957B-BDAF-78F39F5C6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Repeated 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AGE with 3 levels (1 month, 2 months, 3 months) – </a:t>
            </a:r>
            <a:r>
              <a:rPr lang="en-GB" altLang="en-US" i="1">
                <a:ea typeface="ＭＳ Ｐゴシック" panose="020B0600070205080204" pitchFamily="34" charset="-128"/>
              </a:rPr>
              <a:t>within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One-way design: 3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21A888-08A1-720B-E322-D72CF5842514}"/>
              </a:ext>
            </a:extLst>
          </p:cNvPr>
          <p:cNvCxnSpPr>
            <a:cxnSpLocks noChangeShapeType="1"/>
          </p:cNvCxnSpPr>
          <p:nvPr/>
        </p:nvCxnSpPr>
        <p:spPr bwMode="auto">
          <a:xfrm rot="2700000">
            <a:off x="6924675" y="5138738"/>
            <a:ext cx="142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A7D42B-30F9-D622-6CDF-DEF33560F209}"/>
              </a:ext>
            </a:extLst>
          </p:cNvPr>
          <p:cNvCxnSpPr/>
          <p:nvPr/>
        </p:nvCxnSpPr>
        <p:spPr>
          <a:xfrm rot="18900000" flipH="1">
            <a:off x="6924675" y="5148263"/>
            <a:ext cx="142875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33797" name="Group 34">
            <a:extLst>
              <a:ext uri="{FF2B5EF4-FFF2-40B4-BE49-F238E27FC236}">
                <a16:creationId xmlns:a16="http://schemas.microsoft.com/office/drawing/2014/main" id="{A996D360-4787-FCF3-F9E5-2FCF279EE4A8}"/>
              </a:ext>
            </a:extLst>
          </p:cNvPr>
          <p:cNvGrpSpPr>
            <a:grpSpLocks/>
          </p:cNvGrpSpPr>
          <p:nvPr/>
        </p:nvGrpSpPr>
        <p:grpSpPr bwMode="auto">
          <a:xfrm>
            <a:off x="5214938" y="4143375"/>
            <a:ext cx="3714750" cy="2286000"/>
            <a:chOff x="500034" y="1500174"/>
            <a:chExt cx="2643206" cy="22860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C492A1-CDAC-314D-E4BC-20063A25FFEF}"/>
                </a:ext>
              </a:extLst>
            </p:cNvPr>
            <p:cNvSpPr/>
            <p:nvPr/>
          </p:nvSpPr>
          <p:spPr>
            <a:xfrm>
              <a:off x="500034" y="1500174"/>
              <a:ext cx="2643206" cy="22860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3818" name="Group 36">
              <a:extLst>
                <a:ext uri="{FF2B5EF4-FFF2-40B4-BE49-F238E27FC236}">
                  <a16:creationId xmlns:a16="http://schemas.microsoft.com/office/drawing/2014/main" id="{A11B98CD-7DDE-9BAD-1E6F-94C3C57B2F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5637" y="1716076"/>
              <a:ext cx="2001851" cy="1643075"/>
              <a:chOff x="1141389" y="2144704"/>
              <a:chExt cx="2001851" cy="1643075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EE6AE0A9-B416-30DC-DBAB-67BD72E17F2F}"/>
                  </a:ext>
                </a:extLst>
              </p:cNvPr>
              <p:cNvCxnSpPr/>
              <p:nvPr/>
            </p:nvCxnSpPr>
            <p:spPr>
              <a:xfrm rot="5400000" flipH="1" flipV="1">
                <a:off x="320628" y="2965678"/>
                <a:ext cx="1643077" cy="113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4D55AC0-644C-D7B9-6013-E71FAFBF6A6B}"/>
                  </a:ext>
                </a:extLst>
              </p:cNvPr>
              <p:cNvCxnSpPr/>
              <p:nvPr/>
            </p:nvCxnSpPr>
            <p:spPr>
              <a:xfrm>
                <a:off x="1142732" y="3786193"/>
                <a:ext cx="2000477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819" name="TextBox 37">
              <a:extLst>
                <a:ext uri="{FF2B5EF4-FFF2-40B4-BE49-F238E27FC236}">
                  <a16:creationId xmlns:a16="http://schemas.microsoft.com/office/drawing/2014/main" id="{7661F04C-FE77-3A3E-9AED-F02085796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9173" y="3324525"/>
              <a:ext cx="1982404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1M                  2M               3M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                 AGE</a:t>
              </a:r>
            </a:p>
          </p:txBody>
        </p:sp>
        <p:sp>
          <p:nvSpPr>
            <p:cNvPr id="33820" name="TextBox 38">
              <a:extLst>
                <a:ext uri="{FF2B5EF4-FFF2-40B4-BE49-F238E27FC236}">
                  <a16:creationId xmlns:a16="http://schemas.microsoft.com/office/drawing/2014/main" id="{99C833EB-5132-070A-0074-4872FA346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7788CE9-5797-7446-26B9-C95C925C8829}"/>
              </a:ext>
            </a:extLst>
          </p:cNvPr>
          <p:cNvGraphicFramePr>
            <a:graphicFrameLocks noGrp="1"/>
          </p:cNvGraphicFramePr>
          <p:nvPr/>
        </p:nvGraphicFramePr>
        <p:xfrm>
          <a:off x="1000125" y="4071938"/>
          <a:ext cx="3429000" cy="2292349"/>
        </p:xfrm>
        <a:graphic>
          <a:graphicData uri="http://schemas.openxmlformats.org/drawingml/2006/table">
            <a:tbl>
              <a:tblPr/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5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1-month old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2-month old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25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3-month-old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understanding score</a:t>
                      </a:r>
                    </a:p>
                  </a:txBody>
                  <a:tcPr marL="91439" marR="91439" marT="45719" marB="4571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663B6B-ACBB-9D10-85FA-36F6C22B131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05538" y="4705350"/>
            <a:ext cx="938212" cy="4381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E71F7E-28F3-FB1B-2C17-6CF79D57254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43750" y="5143500"/>
            <a:ext cx="938213" cy="43815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DF69CE89-C4E5-EB26-5B06-C8A47668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ANOVA DEMO: </a:t>
            </a:r>
            <a:br>
              <a:rPr lang="en-GB" altLang="en-US">
                <a:ea typeface="ＭＳ Ｐゴシック" panose="020B0600070205080204" pitchFamily="34" charset="-128"/>
              </a:rPr>
            </a:br>
            <a:r>
              <a:rPr lang="en-GB" altLang="en-US">
                <a:ea typeface="ＭＳ Ｐゴシック" panose="020B0600070205080204" pitchFamily="34" charset="-128"/>
              </a:rPr>
              <a:t>2x2 BETWEEN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F8D7DA14-FD21-1BD4-9AFA-2D2FFFAA7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ROBOT type with 2 levels (icub, ecce) - </a:t>
            </a:r>
            <a:r>
              <a:rPr lang="en-GB" altLang="en-US" i="1">
                <a:ea typeface="ＭＳ Ｐゴシック" panose="020B0600070205080204" pitchFamily="34" charset="-128"/>
              </a:rPr>
              <a:t>between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TRAINING experience with 2 levels (no-training, training) - </a:t>
            </a:r>
            <a:r>
              <a:rPr lang="en-GB" altLang="en-US" i="1">
                <a:ea typeface="ＭＳ Ｐゴシック" panose="020B0600070205080204" pitchFamily="34" charset="-128"/>
              </a:rPr>
              <a:t>between</a:t>
            </a:r>
            <a:endParaRPr lang="en-GB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Factorial design: 2 x 2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1A242B-93DC-FB5D-50E1-E8BAC177186E}"/>
              </a:ext>
            </a:extLst>
          </p:cNvPr>
          <p:cNvCxnSpPr>
            <a:cxnSpLocks noChangeShapeType="1"/>
          </p:cNvCxnSpPr>
          <p:nvPr/>
        </p:nvCxnSpPr>
        <p:spPr bwMode="auto">
          <a:xfrm rot="2700000">
            <a:off x="6996113" y="4638675"/>
            <a:ext cx="142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0B3C5F-9BB4-FBD4-AF21-4936D9382716}"/>
              </a:ext>
            </a:extLst>
          </p:cNvPr>
          <p:cNvCxnSpPr/>
          <p:nvPr/>
        </p:nvCxnSpPr>
        <p:spPr>
          <a:xfrm rot="18900000" flipH="1">
            <a:off x="6996113" y="4648200"/>
            <a:ext cx="142875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34821" name="Group 34">
            <a:extLst>
              <a:ext uri="{FF2B5EF4-FFF2-40B4-BE49-F238E27FC236}">
                <a16:creationId xmlns:a16="http://schemas.microsoft.com/office/drawing/2014/main" id="{ADF85EC7-5A89-1519-CAB9-0E8B6E9C0EEF}"/>
              </a:ext>
            </a:extLst>
          </p:cNvPr>
          <p:cNvGrpSpPr>
            <a:grpSpLocks/>
          </p:cNvGrpSpPr>
          <p:nvPr/>
        </p:nvGrpSpPr>
        <p:grpSpPr bwMode="auto">
          <a:xfrm>
            <a:off x="6357938" y="4071938"/>
            <a:ext cx="2643187" cy="2286000"/>
            <a:chOff x="500034" y="1500174"/>
            <a:chExt cx="2643206" cy="22860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280AE8-7D63-DB33-BC70-199CB08DEEAF}"/>
                </a:ext>
              </a:extLst>
            </p:cNvPr>
            <p:cNvSpPr/>
            <p:nvPr/>
          </p:nvSpPr>
          <p:spPr>
            <a:xfrm>
              <a:off x="500034" y="1500174"/>
              <a:ext cx="2643206" cy="22860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4847" name="Group 36">
              <a:extLst>
                <a:ext uri="{FF2B5EF4-FFF2-40B4-BE49-F238E27FC236}">
                  <a16:creationId xmlns:a16="http://schemas.microsoft.com/office/drawing/2014/main" id="{3303E3FD-C102-3529-AE32-C08BB11A51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5637" y="1716076"/>
              <a:ext cx="2001851" cy="1643075"/>
              <a:chOff x="1141389" y="2144704"/>
              <a:chExt cx="2001851" cy="1643075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D820BDB-D488-17BC-B016-29BC81060D81}"/>
                  </a:ext>
                </a:extLst>
              </p:cNvPr>
              <p:cNvCxnSpPr/>
              <p:nvPr/>
            </p:nvCxnSpPr>
            <p:spPr>
              <a:xfrm rot="5400000" flipH="1" flipV="1">
                <a:off x="320645" y="2965448"/>
                <a:ext cx="1643076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6D72310-DB93-49D9-9047-9C18529B287C}"/>
                  </a:ext>
                </a:extLst>
              </p:cNvPr>
              <p:cNvCxnSpPr/>
              <p:nvPr/>
            </p:nvCxnSpPr>
            <p:spPr>
              <a:xfrm>
                <a:off x="1142976" y="3786193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848" name="TextBox 37">
              <a:extLst>
                <a:ext uri="{FF2B5EF4-FFF2-40B4-BE49-F238E27FC236}">
                  <a16:creationId xmlns:a16="http://schemas.microsoft.com/office/drawing/2014/main" id="{AEEC7C19-C7E6-DB46-416A-48949AF4D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285938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no                yes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training</a:t>
              </a:r>
            </a:p>
          </p:txBody>
        </p:sp>
        <p:sp>
          <p:nvSpPr>
            <p:cNvPr id="34849" name="TextBox 38">
              <a:extLst>
                <a:ext uri="{FF2B5EF4-FFF2-40B4-BE49-F238E27FC236}">
                  <a16:creationId xmlns:a16="http://schemas.microsoft.com/office/drawing/2014/main" id="{101A565B-14E9-AAFA-0D6D-F6D1A2975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7C39AF-704D-8898-D6F4-148E707EB3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48538" y="6491288"/>
            <a:ext cx="4286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D8816C-5739-DE24-A6EA-B64EFE341AC3}"/>
              </a:ext>
            </a:extLst>
          </p:cNvPr>
          <p:cNvCxnSpPr/>
          <p:nvPr/>
        </p:nvCxnSpPr>
        <p:spPr>
          <a:xfrm>
            <a:off x="7348538" y="6715125"/>
            <a:ext cx="500062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824" name="TextBox 79">
            <a:extLst>
              <a:ext uri="{FF2B5EF4-FFF2-40B4-BE49-F238E27FC236}">
                <a16:creationId xmlns:a16="http://schemas.microsoft.com/office/drawing/2014/main" id="{56503B72-4C90-C944-EA5E-0BACBA5DD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163" y="6357938"/>
            <a:ext cx="498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</a:rPr>
              <a:t>iCub</a:t>
            </a:r>
          </a:p>
        </p:txBody>
      </p:sp>
      <p:sp>
        <p:nvSpPr>
          <p:cNvPr id="34825" name="TextBox 80">
            <a:extLst>
              <a:ext uri="{FF2B5EF4-FFF2-40B4-BE49-F238E27FC236}">
                <a16:creationId xmlns:a16="http://schemas.microsoft.com/office/drawing/2014/main" id="{C398DA0A-DCCC-01B3-ED6A-DEB558916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188" y="6510338"/>
            <a:ext cx="508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</a:rPr>
              <a:t>ecce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57C969B-E791-609B-6872-592DB53E9943}"/>
              </a:ext>
            </a:extLst>
          </p:cNvPr>
          <p:cNvGraphicFramePr>
            <a:graphicFrameLocks noGrp="1"/>
          </p:cNvGraphicFramePr>
          <p:nvPr/>
        </p:nvGraphicFramePr>
        <p:xfrm>
          <a:off x="976313" y="4357688"/>
          <a:ext cx="4738687" cy="1651123"/>
        </p:xfrm>
        <a:graphic>
          <a:graphicData uri="http://schemas.openxmlformats.org/drawingml/2006/table">
            <a:tbl>
              <a:tblPr/>
              <a:tblGrid>
                <a:gridCol w="944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1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No-training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Training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9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93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ecce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820617-70F1-63DF-85AF-F19CA74324F4}"/>
              </a:ext>
            </a:extLst>
          </p:cNvPr>
          <p:cNvCxnSpPr>
            <a:cxnSpLocks noChangeShapeType="1"/>
          </p:cNvCxnSpPr>
          <p:nvPr/>
        </p:nvCxnSpPr>
        <p:spPr bwMode="auto">
          <a:xfrm rot="2700000">
            <a:off x="7067550" y="5200650"/>
            <a:ext cx="142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AC4EC1-7741-F227-B687-33CC7DCF9834}"/>
              </a:ext>
            </a:extLst>
          </p:cNvPr>
          <p:cNvCxnSpPr/>
          <p:nvPr/>
        </p:nvCxnSpPr>
        <p:spPr>
          <a:xfrm rot="18900000" flipH="1">
            <a:off x="7067550" y="5210175"/>
            <a:ext cx="142875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1" name="Group 34">
            <a:extLst>
              <a:ext uri="{FF2B5EF4-FFF2-40B4-BE49-F238E27FC236}">
                <a16:creationId xmlns:a16="http://schemas.microsoft.com/office/drawing/2014/main" id="{8D7461AA-C469-C2F7-D65B-EA073B0A9882}"/>
              </a:ext>
            </a:extLst>
          </p:cNvPr>
          <p:cNvGrpSpPr>
            <a:grpSpLocks/>
          </p:cNvGrpSpPr>
          <p:nvPr/>
        </p:nvGrpSpPr>
        <p:grpSpPr bwMode="auto">
          <a:xfrm>
            <a:off x="5214938" y="4000500"/>
            <a:ext cx="3714750" cy="2286000"/>
            <a:chOff x="500034" y="1500174"/>
            <a:chExt cx="2643206" cy="228601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D442EB5-1B12-9B73-7776-988B20B0714C}"/>
                </a:ext>
              </a:extLst>
            </p:cNvPr>
            <p:cNvSpPr/>
            <p:nvPr/>
          </p:nvSpPr>
          <p:spPr>
            <a:xfrm>
              <a:off x="500034" y="1500174"/>
              <a:ext cx="2643206" cy="22860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5875" name="Group 36">
              <a:extLst>
                <a:ext uri="{FF2B5EF4-FFF2-40B4-BE49-F238E27FC236}">
                  <a16:creationId xmlns:a16="http://schemas.microsoft.com/office/drawing/2014/main" id="{9E93118C-AEB6-B442-3299-F66A87721F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5637" y="1716076"/>
              <a:ext cx="2001851" cy="1643075"/>
              <a:chOff x="1141389" y="2144704"/>
              <a:chExt cx="2001851" cy="1643075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A4A414E0-30FC-3BBB-E7DE-9B3C8301CD96}"/>
                  </a:ext>
                </a:extLst>
              </p:cNvPr>
              <p:cNvCxnSpPr/>
              <p:nvPr/>
            </p:nvCxnSpPr>
            <p:spPr>
              <a:xfrm rot="5400000" flipH="1" flipV="1">
                <a:off x="320628" y="2965678"/>
                <a:ext cx="1643077" cy="113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BF0DC6E-8FD0-4935-87C0-44D4434C2B04}"/>
                  </a:ext>
                </a:extLst>
              </p:cNvPr>
              <p:cNvCxnSpPr/>
              <p:nvPr/>
            </p:nvCxnSpPr>
            <p:spPr>
              <a:xfrm>
                <a:off x="1142732" y="3786193"/>
                <a:ext cx="2000477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876" name="TextBox 37">
              <a:extLst>
                <a:ext uri="{FF2B5EF4-FFF2-40B4-BE49-F238E27FC236}">
                  <a16:creationId xmlns:a16="http://schemas.microsoft.com/office/drawing/2014/main" id="{3DF962DF-D6A5-504A-241B-D14596416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9173" y="3324525"/>
              <a:ext cx="1982404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1M                  2M               3M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                 AGE</a:t>
              </a:r>
            </a:p>
          </p:txBody>
        </p:sp>
        <p:sp>
          <p:nvSpPr>
            <p:cNvPr id="35877" name="TextBox 38">
              <a:extLst>
                <a:ext uri="{FF2B5EF4-FFF2-40B4-BE49-F238E27FC236}">
                  <a16:creationId xmlns:a16="http://schemas.microsoft.com/office/drawing/2014/main" id="{68E42137-4CAA-7F53-7966-D38AF807A2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sp>
        <p:nvSpPr>
          <p:cNvPr id="35842" name="Title 1">
            <a:extLst>
              <a:ext uri="{FF2B5EF4-FFF2-40B4-BE49-F238E27FC236}">
                <a16:creationId xmlns:a16="http://schemas.microsoft.com/office/drawing/2014/main" id="{DA32229C-6145-576C-A29B-A76AA795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b="1">
                <a:ea typeface="ＭＳ Ｐゴシック" panose="020B0600070205080204" pitchFamily="34" charset="-128"/>
              </a:rPr>
              <a:t>M</a:t>
            </a:r>
            <a:r>
              <a:rPr lang="en-GB" altLang="en-US">
                <a:ea typeface="ＭＳ Ｐゴシック" panose="020B0600070205080204" pitchFamily="34" charset="-128"/>
              </a:rPr>
              <a:t>ANOVA DEMO: </a:t>
            </a:r>
            <a:br>
              <a:rPr lang="en-GB" altLang="en-US">
                <a:ea typeface="ＭＳ Ｐゴシック" panose="020B0600070205080204" pitchFamily="34" charset="-128"/>
              </a:rPr>
            </a:br>
            <a:r>
              <a:rPr lang="en-GB" altLang="en-US">
                <a:ea typeface="ＭＳ Ｐゴシック" panose="020B0600070205080204" pitchFamily="34" charset="-128"/>
              </a:rPr>
              <a:t>2x3 MIXED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E8FCB1A9-B5B2-094C-FC81-A163A121A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Independent variables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ROBOT type with 2 levels (icub, ecce) – </a:t>
            </a:r>
            <a:r>
              <a:rPr lang="en-GB" altLang="en-US" i="1">
                <a:ea typeface="ＭＳ Ｐゴシック" panose="020B0600070205080204" pitchFamily="34" charset="-128"/>
              </a:rPr>
              <a:t>between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AGE of robot with 3 levels (1M, 2M, 3M) – </a:t>
            </a:r>
            <a:r>
              <a:rPr lang="en-GB" altLang="en-US" i="1">
                <a:ea typeface="ＭＳ Ｐゴシック" panose="020B0600070205080204" pitchFamily="34" charset="-128"/>
              </a:rPr>
              <a:t>within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Factorial design: 2 x 3 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DC1091-F7FD-4D1A-675E-9267D9A1BF5E}"/>
              </a:ext>
            </a:extLst>
          </p:cNvPr>
          <p:cNvCxnSpPr/>
          <p:nvPr/>
        </p:nvCxnSpPr>
        <p:spPr>
          <a:xfrm rot="10800000">
            <a:off x="6215063" y="5715000"/>
            <a:ext cx="1000125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D0B417-F532-CB7A-1C92-47FE3885C1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31088" y="6500813"/>
            <a:ext cx="4286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C26961-D664-1BFD-57FD-D4778923D561}"/>
              </a:ext>
            </a:extLst>
          </p:cNvPr>
          <p:cNvCxnSpPr/>
          <p:nvPr/>
        </p:nvCxnSpPr>
        <p:spPr>
          <a:xfrm>
            <a:off x="7348538" y="6715125"/>
            <a:ext cx="500062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847" name="TextBox 79">
            <a:extLst>
              <a:ext uri="{FF2B5EF4-FFF2-40B4-BE49-F238E27FC236}">
                <a16:creationId xmlns:a16="http://schemas.microsoft.com/office/drawing/2014/main" id="{6C968387-001D-0852-7A46-E794BF63C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9713" y="6367463"/>
            <a:ext cx="498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</a:rPr>
              <a:t>iCub</a:t>
            </a:r>
          </a:p>
        </p:txBody>
      </p:sp>
      <p:sp>
        <p:nvSpPr>
          <p:cNvPr id="35848" name="TextBox 80">
            <a:extLst>
              <a:ext uri="{FF2B5EF4-FFF2-40B4-BE49-F238E27FC236}">
                <a16:creationId xmlns:a16="http://schemas.microsoft.com/office/drawing/2014/main" id="{1AFAB8A8-5503-276D-237E-636B82374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188" y="6572250"/>
            <a:ext cx="508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</a:rPr>
              <a:t>ecce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B32D5B7-6D1C-1F31-2813-9865CD8C4376}"/>
              </a:ext>
            </a:extLst>
          </p:cNvPr>
          <p:cNvCxnSpPr/>
          <p:nvPr/>
        </p:nvCxnSpPr>
        <p:spPr>
          <a:xfrm rot="5400000">
            <a:off x="7041357" y="4531519"/>
            <a:ext cx="1357312" cy="100965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EFC974-D2F4-4DBD-A0A8-0E4CC5F0597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215063" y="5143500"/>
            <a:ext cx="928687" cy="5715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CF41F52-7C90-A52F-AD28-54D40096F40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143750" y="4714875"/>
            <a:ext cx="1071563" cy="42862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F4242AF-781C-9598-E8BF-C031745C0147}"/>
              </a:ext>
            </a:extLst>
          </p:cNvPr>
          <p:cNvGraphicFramePr>
            <a:graphicFrameLocks noGrp="1"/>
          </p:cNvGraphicFramePr>
          <p:nvPr/>
        </p:nvGraphicFramePr>
        <p:xfrm>
          <a:off x="214313" y="4143375"/>
          <a:ext cx="4857750" cy="1920876"/>
        </p:xfrm>
        <a:graphic>
          <a:graphicData uri="http://schemas.openxmlformats.org/drawingml/2006/table">
            <a:tbl>
              <a:tblPr/>
              <a:tblGrid>
                <a:gridCol w="6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2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ＭＳ Ｐゴシック" charset="-128"/>
                      </a:endParaRP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1 month old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2 month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old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 month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old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icub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ecce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Mean of test score</a:t>
                      </a:r>
                    </a:p>
                  </a:txBody>
                  <a:tcPr marL="91439" marR="91439" marT="45748" marB="4574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3260CB04-762C-562D-C440-6EE8B5465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ＭＳ Ｐゴシック" panose="020B0600070205080204" pitchFamily="34" charset="-128"/>
              </a:rPr>
              <a:t>Overview of 2x2 </a:t>
            </a:r>
            <a:r>
              <a:rPr lang="en-GB" altLang="en-US" b="1">
                <a:ea typeface="ＭＳ Ｐゴシック" panose="020B0600070205080204" pitchFamily="34" charset="-128"/>
              </a:rPr>
              <a:t>within </a:t>
            </a:r>
            <a:r>
              <a:rPr lang="en-GB" altLang="en-US">
                <a:ea typeface="ＭＳ Ｐゴシック" panose="020B0600070205080204" pitchFamily="34" charset="-128"/>
              </a:rPr>
              <a:t>results</a:t>
            </a:r>
          </a:p>
        </p:txBody>
      </p:sp>
      <p:grpSp>
        <p:nvGrpSpPr>
          <p:cNvPr id="36866" name="Group 12">
            <a:extLst>
              <a:ext uri="{FF2B5EF4-FFF2-40B4-BE49-F238E27FC236}">
                <a16:creationId xmlns:a16="http://schemas.microsoft.com/office/drawing/2014/main" id="{5CDF3182-CD21-2B1F-51D3-8774839B68EB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1500188"/>
            <a:ext cx="2643188" cy="2286000"/>
            <a:chOff x="500034" y="1500174"/>
            <a:chExt cx="2643206" cy="22860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80D256-E96C-F5DA-B7BD-4866F6B4CD6C}"/>
                </a:ext>
              </a:extLst>
            </p:cNvPr>
            <p:cNvSpPr/>
            <p:nvPr/>
          </p:nvSpPr>
          <p:spPr>
            <a:xfrm>
              <a:off x="500034" y="1500174"/>
              <a:ext cx="2643206" cy="22860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6924" name="Group 10">
              <a:extLst>
                <a:ext uri="{FF2B5EF4-FFF2-40B4-BE49-F238E27FC236}">
                  <a16:creationId xmlns:a16="http://schemas.microsoft.com/office/drawing/2014/main" id="{3B995989-4BC3-F884-4929-18ABE46380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333BF182-B2AC-55A1-4FC3-5E35FFE079FA}"/>
                  </a:ext>
                </a:extLst>
              </p:cNvPr>
              <p:cNvCxnSpPr/>
              <p:nvPr/>
            </p:nvCxnSpPr>
            <p:spPr>
              <a:xfrm rot="5400000" flipH="1" flipV="1">
                <a:off x="311914" y="2956716"/>
                <a:ext cx="1643074" cy="190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4BCD89F-9F72-A6FE-DBC4-166BB45C368D}"/>
                  </a:ext>
                </a:extLst>
              </p:cNvPr>
              <p:cNvCxnSpPr/>
              <p:nvPr/>
            </p:nvCxnSpPr>
            <p:spPr>
              <a:xfrm>
                <a:off x="1142976" y="3786191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925" name="TextBox 9">
              <a:extLst>
                <a:ext uri="{FF2B5EF4-FFF2-40B4-BE49-F238E27FC236}">
                  <a16:creationId xmlns:a16="http://schemas.microsoft.com/office/drawing/2014/main" id="{73B943C7-1B8A-9003-AFA3-C1EE5C864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6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   AGE</a:t>
              </a:r>
            </a:p>
          </p:txBody>
        </p:sp>
        <p:sp>
          <p:nvSpPr>
            <p:cNvPr id="36926" name="TextBox 11">
              <a:extLst>
                <a:ext uri="{FF2B5EF4-FFF2-40B4-BE49-F238E27FC236}">
                  <a16:creationId xmlns:a16="http://schemas.microsoft.com/office/drawing/2014/main" id="{BE0CA557-49A1-BFAA-835A-06E0694BE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6867" name="Group 13">
            <a:extLst>
              <a:ext uri="{FF2B5EF4-FFF2-40B4-BE49-F238E27FC236}">
                <a16:creationId xmlns:a16="http://schemas.microsoft.com/office/drawing/2014/main" id="{5C820FB6-34E2-750B-4504-75367B14DF0F}"/>
              </a:ext>
            </a:extLst>
          </p:cNvPr>
          <p:cNvGrpSpPr>
            <a:grpSpLocks/>
          </p:cNvGrpSpPr>
          <p:nvPr/>
        </p:nvGrpSpPr>
        <p:grpSpPr bwMode="auto">
          <a:xfrm>
            <a:off x="3214688" y="1500188"/>
            <a:ext cx="2643187" cy="2286000"/>
            <a:chOff x="500034" y="1500174"/>
            <a:chExt cx="2643206" cy="228601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39691F-D4CD-7E21-1A36-08546E842300}"/>
                </a:ext>
              </a:extLst>
            </p:cNvPr>
            <p:cNvSpPr/>
            <p:nvPr/>
          </p:nvSpPr>
          <p:spPr>
            <a:xfrm>
              <a:off x="500034" y="1500174"/>
              <a:ext cx="2643206" cy="22860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6918" name="Group 15">
              <a:extLst>
                <a:ext uri="{FF2B5EF4-FFF2-40B4-BE49-F238E27FC236}">
                  <a16:creationId xmlns:a16="http://schemas.microsoft.com/office/drawing/2014/main" id="{5AF6ECB8-64FC-EE23-14F9-5FE79A97EB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CDD626E-E6FB-73C6-43AB-304F45E55DED}"/>
                  </a:ext>
                </a:extLst>
              </p:cNvPr>
              <p:cNvCxnSpPr/>
              <p:nvPr/>
            </p:nvCxnSpPr>
            <p:spPr>
              <a:xfrm rot="5400000" flipH="1" flipV="1">
                <a:off x="320646" y="2965447"/>
                <a:ext cx="164307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C50D554B-01B0-50F0-02F9-23429FAD2BC1}"/>
                  </a:ext>
                </a:extLst>
              </p:cNvPr>
              <p:cNvCxnSpPr/>
              <p:nvPr/>
            </p:nvCxnSpPr>
            <p:spPr>
              <a:xfrm>
                <a:off x="1142976" y="3786191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919" name="TextBox 16">
              <a:extLst>
                <a:ext uri="{FF2B5EF4-FFF2-40B4-BE49-F238E27FC236}">
                  <a16:creationId xmlns:a16="http://schemas.microsoft.com/office/drawing/2014/main" id="{B9824F32-7F8C-05C2-5453-340FD7186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6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   AGE</a:t>
              </a:r>
            </a:p>
          </p:txBody>
        </p:sp>
        <p:sp>
          <p:nvSpPr>
            <p:cNvPr id="36920" name="TextBox 17">
              <a:extLst>
                <a:ext uri="{FF2B5EF4-FFF2-40B4-BE49-F238E27FC236}">
                  <a16:creationId xmlns:a16="http://schemas.microsoft.com/office/drawing/2014/main" id="{63E00740-5CE9-826F-56C5-58042ABF6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6868" name="Group 20">
            <a:extLst>
              <a:ext uri="{FF2B5EF4-FFF2-40B4-BE49-F238E27FC236}">
                <a16:creationId xmlns:a16="http://schemas.microsoft.com/office/drawing/2014/main" id="{81A5A6CA-1BDC-FBC5-BF5B-BC21CB4FBD14}"/>
              </a:ext>
            </a:extLst>
          </p:cNvPr>
          <p:cNvGrpSpPr>
            <a:grpSpLocks/>
          </p:cNvGrpSpPr>
          <p:nvPr/>
        </p:nvGrpSpPr>
        <p:grpSpPr bwMode="auto">
          <a:xfrm>
            <a:off x="6215063" y="1500188"/>
            <a:ext cx="2643187" cy="2286000"/>
            <a:chOff x="500034" y="1500174"/>
            <a:chExt cx="2643206" cy="228601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0208E9-5BEC-D7EE-4F61-3C6646117E9A}"/>
                </a:ext>
              </a:extLst>
            </p:cNvPr>
            <p:cNvSpPr/>
            <p:nvPr/>
          </p:nvSpPr>
          <p:spPr>
            <a:xfrm>
              <a:off x="500034" y="1500174"/>
              <a:ext cx="2643206" cy="22860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6912" name="Group 22">
              <a:extLst>
                <a:ext uri="{FF2B5EF4-FFF2-40B4-BE49-F238E27FC236}">
                  <a16:creationId xmlns:a16="http://schemas.microsoft.com/office/drawing/2014/main" id="{27123D30-754C-FE26-152A-BEB7EC008E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9B8E99ED-BCD0-8DD8-2FB0-1E65635F5B90}"/>
                  </a:ext>
                </a:extLst>
              </p:cNvPr>
              <p:cNvCxnSpPr/>
              <p:nvPr/>
            </p:nvCxnSpPr>
            <p:spPr>
              <a:xfrm rot="5400000" flipH="1" flipV="1">
                <a:off x="320646" y="2965447"/>
                <a:ext cx="164307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7671F01-BAB6-0765-4E13-2FDC20DB2C8A}"/>
                  </a:ext>
                </a:extLst>
              </p:cNvPr>
              <p:cNvCxnSpPr/>
              <p:nvPr/>
            </p:nvCxnSpPr>
            <p:spPr>
              <a:xfrm>
                <a:off x="1142976" y="3786191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913" name="TextBox 23">
              <a:extLst>
                <a:ext uri="{FF2B5EF4-FFF2-40B4-BE49-F238E27FC236}">
                  <a16:creationId xmlns:a16="http://schemas.microsoft.com/office/drawing/2014/main" id="{1B2AFC54-9185-2F80-EFBE-F673C772B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6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   AGE</a:t>
              </a:r>
            </a:p>
          </p:txBody>
        </p:sp>
        <p:sp>
          <p:nvSpPr>
            <p:cNvPr id="36914" name="TextBox 24">
              <a:extLst>
                <a:ext uri="{FF2B5EF4-FFF2-40B4-BE49-F238E27FC236}">
                  <a16:creationId xmlns:a16="http://schemas.microsoft.com/office/drawing/2014/main" id="{4A591A2D-606F-A931-014A-372EB6346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6869" name="Group 27">
            <a:extLst>
              <a:ext uri="{FF2B5EF4-FFF2-40B4-BE49-F238E27FC236}">
                <a16:creationId xmlns:a16="http://schemas.microsoft.com/office/drawing/2014/main" id="{3B3BDE25-BB1D-38A6-343F-B53078C1BF8D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4214813"/>
            <a:ext cx="2643188" cy="2286000"/>
            <a:chOff x="500034" y="1500174"/>
            <a:chExt cx="2643206" cy="228601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CE085BA-5A10-9189-B0DC-05AED54C95D8}"/>
                </a:ext>
              </a:extLst>
            </p:cNvPr>
            <p:cNvSpPr/>
            <p:nvPr/>
          </p:nvSpPr>
          <p:spPr>
            <a:xfrm>
              <a:off x="500034" y="1500174"/>
              <a:ext cx="2643206" cy="22860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6906" name="Group 29">
              <a:extLst>
                <a:ext uri="{FF2B5EF4-FFF2-40B4-BE49-F238E27FC236}">
                  <a16:creationId xmlns:a16="http://schemas.microsoft.com/office/drawing/2014/main" id="{019B1C39-E917-20FC-2542-2FB40756B4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F1C65D7-FD62-F2D5-A51E-0F196D7D8B41}"/>
                  </a:ext>
                </a:extLst>
              </p:cNvPr>
              <p:cNvCxnSpPr/>
              <p:nvPr/>
            </p:nvCxnSpPr>
            <p:spPr>
              <a:xfrm rot="5400000" flipH="1" flipV="1">
                <a:off x="311914" y="2956716"/>
                <a:ext cx="1643074" cy="190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7256938E-BF62-F0B0-B4F4-BF15BF6C5C9B}"/>
                  </a:ext>
                </a:extLst>
              </p:cNvPr>
              <p:cNvCxnSpPr/>
              <p:nvPr/>
            </p:nvCxnSpPr>
            <p:spPr>
              <a:xfrm>
                <a:off x="1142976" y="3786191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907" name="TextBox 30">
              <a:extLst>
                <a:ext uri="{FF2B5EF4-FFF2-40B4-BE49-F238E27FC236}">
                  <a16:creationId xmlns:a16="http://schemas.microsoft.com/office/drawing/2014/main" id="{ABAD06FF-C8F7-B7EC-F069-4B771200B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6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   AGE</a:t>
              </a:r>
            </a:p>
          </p:txBody>
        </p:sp>
        <p:sp>
          <p:nvSpPr>
            <p:cNvPr id="36908" name="TextBox 31">
              <a:extLst>
                <a:ext uri="{FF2B5EF4-FFF2-40B4-BE49-F238E27FC236}">
                  <a16:creationId xmlns:a16="http://schemas.microsoft.com/office/drawing/2014/main" id="{4EE3EFE6-F24D-B319-C52F-8C4657A74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6870" name="Group 34">
            <a:extLst>
              <a:ext uri="{FF2B5EF4-FFF2-40B4-BE49-F238E27FC236}">
                <a16:creationId xmlns:a16="http://schemas.microsoft.com/office/drawing/2014/main" id="{DB89BED9-8F22-C4EC-E879-C63855048DBC}"/>
              </a:ext>
            </a:extLst>
          </p:cNvPr>
          <p:cNvGrpSpPr>
            <a:grpSpLocks/>
          </p:cNvGrpSpPr>
          <p:nvPr/>
        </p:nvGrpSpPr>
        <p:grpSpPr bwMode="auto">
          <a:xfrm>
            <a:off x="3500438" y="4214813"/>
            <a:ext cx="2643187" cy="2286000"/>
            <a:chOff x="500034" y="1500174"/>
            <a:chExt cx="2643206" cy="228601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3E98208-F928-0444-B955-59EA16790EE0}"/>
                </a:ext>
              </a:extLst>
            </p:cNvPr>
            <p:cNvSpPr/>
            <p:nvPr/>
          </p:nvSpPr>
          <p:spPr>
            <a:xfrm>
              <a:off x="500034" y="1500174"/>
              <a:ext cx="2643206" cy="22860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6900" name="Group 36">
              <a:extLst>
                <a:ext uri="{FF2B5EF4-FFF2-40B4-BE49-F238E27FC236}">
                  <a16:creationId xmlns:a16="http://schemas.microsoft.com/office/drawing/2014/main" id="{D2B171DA-DCCB-D1F9-F36C-87A40976A3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F9594C7F-340D-769C-BDF0-B5F4D1A5ACD7}"/>
                  </a:ext>
                </a:extLst>
              </p:cNvPr>
              <p:cNvCxnSpPr/>
              <p:nvPr/>
            </p:nvCxnSpPr>
            <p:spPr>
              <a:xfrm rot="5400000" flipH="1" flipV="1">
                <a:off x="320646" y="2965447"/>
                <a:ext cx="164307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704B82C-84D3-A2FB-BBA1-D20ED8939394}"/>
                  </a:ext>
                </a:extLst>
              </p:cNvPr>
              <p:cNvCxnSpPr/>
              <p:nvPr/>
            </p:nvCxnSpPr>
            <p:spPr>
              <a:xfrm>
                <a:off x="1142976" y="3786191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901" name="TextBox 37">
              <a:extLst>
                <a:ext uri="{FF2B5EF4-FFF2-40B4-BE49-F238E27FC236}">
                  <a16:creationId xmlns:a16="http://schemas.microsoft.com/office/drawing/2014/main" id="{9D6E4DC7-DA40-2020-2C9A-C63549175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6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AGE</a:t>
              </a:r>
            </a:p>
          </p:txBody>
        </p:sp>
        <p:sp>
          <p:nvSpPr>
            <p:cNvPr id="36902" name="TextBox 38">
              <a:extLst>
                <a:ext uri="{FF2B5EF4-FFF2-40B4-BE49-F238E27FC236}">
                  <a16:creationId xmlns:a16="http://schemas.microsoft.com/office/drawing/2014/main" id="{2187A646-4B23-5D23-031A-F7C17C2468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6871" name="Group 41">
            <a:extLst>
              <a:ext uri="{FF2B5EF4-FFF2-40B4-BE49-F238E27FC236}">
                <a16:creationId xmlns:a16="http://schemas.microsoft.com/office/drawing/2014/main" id="{9AAABD6F-ACE1-E236-60A1-E0AE5E456DDA}"/>
              </a:ext>
            </a:extLst>
          </p:cNvPr>
          <p:cNvGrpSpPr>
            <a:grpSpLocks/>
          </p:cNvGrpSpPr>
          <p:nvPr/>
        </p:nvGrpSpPr>
        <p:grpSpPr bwMode="auto">
          <a:xfrm>
            <a:off x="6215063" y="4214813"/>
            <a:ext cx="2643187" cy="2286000"/>
            <a:chOff x="500034" y="1500174"/>
            <a:chExt cx="2643206" cy="228601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5F20B96-42AF-93C7-AE7E-E164AC2538F9}"/>
                </a:ext>
              </a:extLst>
            </p:cNvPr>
            <p:cNvSpPr/>
            <p:nvPr/>
          </p:nvSpPr>
          <p:spPr>
            <a:xfrm>
              <a:off x="500034" y="1500174"/>
              <a:ext cx="2643206" cy="22860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6894" name="Group 43">
              <a:extLst>
                <a:ext uri="{FF2B5EF4-FFF2-40B4-BE49-F238E27FC236}">
                  <a16:creationId xmlns:a16="http://schemas.microsoft.com/office/drawing/2014/main" id="{C6EB6A62-A803-DD3A-6B45-E438D574D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A538D834-DBC5-1B71-E5E3-0BA82F12975B}"/>
                  </a:ext>
                </a:extLst>
              </p:cNvPr>
              <p:cNvCxnSpPr/>
              <p:nvPr/>
            </p:nvCxnSpPr>
            <p:spPr>
              <a:xfrm rot="5400000" flipH="1" flipV="1">
                <a:off x="320646" y="2965447"/>
                <a:ext cx="164307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44AECD6C-25E9-04A6-4B56-AB8933D2754F}"/>
                  </a:ext>
                </a:extLst>
              </p:cNvPr>
              <p:cNvCxnSpPr/>
              <p:nvPr/>
            </p:nvCxnSpPr>
            <p:spPr>
              <a:xfrm>
                <a:off x="1142976" y="3786191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895" name="TextBox 44">
              <a:extLst>
                <a:ext uri="{FF2B5EF4-FFF2-40B4-BE49-F238E27FC236}">
                  <a16:creationId xmlns:a16="http://schemas.microsoft.com/office/drawing/2014/main" id="{6CB93E03-D540-D424-A5A7-795E273D6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6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     AGE</a:t>
              </a:r>
            </a:p>
          </p:txBody>
        </p:sp>
        <p:sp>
          <p:nvSpPr>
            <p:cNvPr id="36896" name="TextBox 45">
              <a:extLst>
                <a:ext uri="{FF2B5EF4-FFF2-40B4-BE49-F238E27FC236}">
                  <a16:creationId xmlns:a16="http://schemas.microsoft.com/office/drawing/2014/main" id="{F927973E-EB24-EC84-53E5-D79B42DD1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9315DB-12B2-22C2-17FE-0082B44BE5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00125" y="2428875"/>
            <a:ext cx="142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496684A-C472-C205-79F7-480FA24482A8}"/>
              </a:ext>
            </a:extLst>
          </p:cNvPr>
          <p:cNvCxnSpPr/>
          <p:nvPr/>
        </p:nvCxnSpPr>
        <p:spPr>
          <a:xfrm>
            <a:off x="1000125" y="2500313"/>
            <a:ext cx="142875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17C1D01-C7F9-03F8-BE94-8A9484D803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57625" y="2214563"/>
            <a:ext cx="142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61A7C4C-0F1B-C27A-B5AF-D731AF985745}"/>
              </a:ext>
            </a:extLst>
          </p:cNvPr>
          <p:cNvCxnSpPr/>
          <p:nvPr/>
        </p:nvCxnSpPr>
        <p:spPr>
          <a:xfrm>
            <a:off x="3857625" y="2786063"/>
            <a:ext cx="142875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9421072-E1D3-5ADE-80FE-9172F88D2A71}"/>
              </a:ext>
            </a:extLst>
          </p:cNvPr>
          <p:cNvCxnSpPr>
            <a:cxnSpLocks noChangeShapeType="1"/>
          </p:cNvCxnSpPr>
          <p:nvPr/>
        </p:nvCxnSpPr>
        <p:spPr bwMode="auto">
          <a:xfrm rot="2700000">
            <a:off x="6853238" y="2566988"/>
            <a:ext cx="142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0EF5EF3-7242-871F-53F0-FB4F71C517CB}"/>
              </a:ext>
            </a:extLst>
          </p:cNvPr>
          <p:cNvCxnSpPr/>
          <p:nvPr/>
        </p:nvCxnSpPr>
        <p:spPr>
          <a:xfrm rot="2700000">
            <a:off x="6853238" y="2638425"/>
            <a:ext cx="142875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657D233-EBF7-2D15-BB3C-7B8E1837D181}"/>
              </a:ext>
            </a:extLst>
          </p:cNvPr>
          <p:cNvCxnSpPr>
            <a:cxnSpLocks noChangeShapeType="1"/>
          </p:cNvCxnSpPr>
          <p:nvPr/>
        </p:nvCxnSpPr>
        <p:spPr bwMode="auto">
          <a:xfrm rot="2700000">
            <a:off x="923925" y="4995863"/>
            <a:ext cx="142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05F70C7-D3D2-36AE-C3A9-89284B32AFC7}"/>
              </a:ext>
            </a:extLst>
          </p:cNvPr>
          <p:cNvCxnSpPr/>
          <p:nvPr/>
        </p:nvCxnSpPr>
        <p:spPr>
          <a:xfrm rot="2700000">
            <a:off x="923925" y="5567363"/>
            <a:ext cx="142875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CEAC1AC-3960-7F89-C531-D8EC65AD0787}"/>
              </a:ext>
            </a:extLst>
          </p:cNvPr>
          <p:cNvCxnSpPr>
            <a:cxnSpLocks noChangeShapeType="1"/>
          </p:cNvCxnSpPr>
          <p:nvPr/>
        </p:nvCxnSpPr>
        <p:spPr bwMode="auto">
          <a:xfrm rot="2700000">
            <a:off x="4210050" y="5210175"/>
            <a:ext cx="1428750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7B5D285-7E25-136E-16DE-BDAE67C66E95}"/>
              </a:ext>
            </a:extLst>
          </p:cNvPr>
          <p:cNvCxnSpPr/>
          <p:nvPr/>
        </p:nvCxnSpPr>
        <p:spPr>
          <a:xfrm rot="18900000" flipH="1">
            <a:off x="4210050" y="5219700"/>
            <a:ext cx="142875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349F51E-8F05-B31E-2AC5-CFDD0413015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43750" y="5214938"/>
            <a:ext cx="1000125" cy="509587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B7A1B75-EB37-9EDB-5DC2-528B15ADD1F8}"/>
              </a:ext>
            </a:extLst>
          </p:cNvPr>
          <p:cNvCxnSpPr/>
          <p:nvPr/>
        </p:nvCxnSpPr>
        <p:spPr>
          <a:xfrm rot="10800000" flipV="1">
            <a:off x="7143750" y="4724400"/>
            <a:ext cx="1000125" cy="561975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59B85C5-F737-43DF-9F4A-221EE8CCCA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2875" y="204788"/>
            <a:ext cx="4286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04CFA8C-CA4B-C326-EB20-63E255ADB475}"/>
              </a:ext>
            </a:extLst>
          </p:cNvPr>
          <p:cNvCxnSpPr/>
          <p:nvPr/>
        </p:nvCxnSpPr>
        <p:spPr>
          <a:xfrm>
            <a:off x="142875" y="500063"/>
            <a:ext cx="500063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6886" name="TextBox 79">
            <a:extLst>
              <a:ext uri="{FF2B5EF4-FFF2-40B4-BE49-F238E27FC236}">
                <a16:creationId xmlns:a16="http://schemas.microsoft.com/office/drawing/2014/main" id="{CF614CCC-FAA3-A0FA-16D6-5A4C31E92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71438"/>
            <a:ext cx="498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</a:rPr>
              <a:t>iCub</a:t>
            </a:r>
          </a:p>
        </p:txBody>
      </p:sp>
      <p:sp>
        <p:nvSpPr>
          <p:cNvPr id="36887" name="TextBox 80">
            <a:extLst>
              <a:ext uri="{FF2B5EF4-FFF2-40B4-BE49-F238E27FC236}">
                <a16:creationId xmlns:a16="http://schemas.microsoft.com/office/drawing/2014/main" id="{9A0ABB2A-9343-EB88-4553-3E4B37EE8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357188"/>
            <a:ext cx="508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</a:rPr>
              <a:t>ecce</a:t>
            </a:r>
          </a:p>
        </p:txBody>
      </p:sp>
      <p:sp>
        <p:nvSpPr>
          <p:cNvPr id="36888" name="TextBox 60">
            <a:extLst>
              <a:ext uri="{FF2B5EF4-FFF2-40B4-BE49-F238E27FC236}">
                <a16:creationId xmlns:a16="http://schemas.microsoft.com/office/drawing/2014/main" id="{3EF912C2-9757-A606-A8A2-9491EE376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3733800"/>
            <a:ext cx="17795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nothing significant</a:t>
            </a:r>
          </a:p>
        </p:txBody>
      </p:sp>
      <p:sp>
        <p:nvSpPr>
          <p:cNvPr id="36889" name="TextBox 61">
            <a:extLst>
              <a:ext uri="{FF2B5EF4-FFF2-40B4-BE49-F238E27FC236}">
                <a16:creationId xmlns:a16="http://schemas.microsoft.com/office/drawing/2014/main" id="{1414027C-F92B-744F-5925-9AC5625A0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663" y="3733800"/>
            <a:ext cx="17954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ROBOT significant</a:t>
            </a:r>
          </a:p>
        </p:txBody>
      </p:sp>
      <p:sp>
        <p:nvSpPr>
          <p:cNvPr id="36890" name="TextBox 62">
            <a:extLst>
              <a:ext uri="{FF2B5EF4-FFF2-40B4-BE49-F238E27FC236}">
                <a16:creationId xmlns:a16="http://schemas.microsoft.com/office/drawing/2014/main" id="{D25775E4-DD21-D6A6-37CC-9CAC36F9B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733800"/>
            <a:ext cx="15271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AGE significant</a:t>
            </a:r>
          </a:p>
        </p:txBody>
      </p:sp>
      <p:sp>
        <p:nvSpPr>
          <p:cNvPr id="36891" name="TextBox 63">
            <a:extLst>
              <a:ext uri="{FF2B5EF4-FFF2-40B4-BE49-F238E27FC236}">
                <a16:creationId xmlns:a16="http://schemas.microsoft.com/office/drawing/2014/main" id="{BD454024-A52F-9438-FF32-9643F98AA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6500813"/>
            <a:ext cx="23574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ROBOT , AGE significant</a:t>
            </a:r>
          </a:p>
        </p:txBody>
      </p:sp>
      <p:sp>
        <p:nvSpPr>
          <p:cNvPr id="36892" name="TextBox 70">
            <a:extLst>
              <a:ext uri="{FF2B5EF4-FFF2-40B4-BE49-F238E27FC236}">
                <a16:creationId xmlns:a16="http://schemas.microsoft.com/office/drawing/2014/main" id="{F51F14B7-642E-59A9-CA8F-DEC63CAD1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5963" y="6500813"/>
            <a:ext cx="33321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ROBOTxAGE significant interaction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0086D46A-DEE0-9446-121A-DA14C1770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ＭＳ Ｐゴシック" panose="020B0600070205080204" pitchFamily="34" charset="-128"/>
              </a:rPr>
              <a:t>Overview of 2x2 </a:t>
            </a:r>
            <a:r>
              <a:rPr lang="en-GB" altLang="en-US" b="1">
                <a:ea typeface="ＭＳ Ｐゴシック" panose="020B0600070205080204" pitchFamily="34" charset="-128"/>
              </a:rPr>
              <a:t>between </a:t>
            </a:r>
            <a:r>
              <a:rPr lang="en-GB" altLang="en-US">
                <a:ea typeface="ＭＳ Ｐゴシック" panose="020B0600070205080204" pitchFamily="34" charset="-128"/>
              </a:rPr>
              <a:t>results</a:t>
            </a:r>
          </a:p>
        </p:txBody>
      </p:sp>
      <p:grpSp>
        <p:nvGrpSpPr>
          <p:cNvPr id="37890" name="Group 12">
            <a:extLst>
              <a:ext uri="{FF2B5EF4-FFF2-40B4-BE49-F238E27FC236}">
                <a16:creationId xmlns:a16="http://schemas.microsoft.com/office/drawing/2014/main" id="{6117CE4F-49A8-57EE-CC08-336E6DEDA27E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1500188"/>
            <a:ext cx="2643188" cy="2286000"/>
            <a:chOff x="500034" y="1500174"/>
            <a:chExt cx="2643206" cy="22860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C6EF41-F64F-6374-988E-17E5CE8E6B54}"/>
                </a:ext>
              </a:extLst>
            </p:cNvPr>
            <p:cNvSpPr/>
            <p:nvPr/>
          </p:nvSpPr>
          <p:spPr>
            <a:xfrm>
              <a:off x="500034" y="1500174"/>
              <a:ext cx="2643206" cy="22860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7960" name="Group 10">
              <a:extLst>
                <a:ext uri="{FF2B5EF4-FFF2-40B4-BE49-F238E27FC236}">
                  <a16:creationId xmlns:a16="http://schemas.microsoft.com/office/drawing/2014/main" id="{A376C3C4-2675-8683-54F4-9B177729B9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98D96279-F291-62E9-397B-3C8616BFE9F2}"/>
                  </a:ext>
                </a:extLst>
              </p:cNvPr>
              <p:cNvCxnSpPr/>
              <p:nvPr/>
            </p:nvCxnSpPr>
            <p:spPr>
              <a:xfrm rot="5400000" flipH="1" flipV="1">
                <a:off x="311914" y="2956716"/>
                <a:ext cx="1643074" cy="190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667AAAB3-CD2C-B92A-EF53-D7DE73BE3209}"/>
                  </a:ext>
                </a:extLst>
              </p:cNvPr>
              <p:cNvCxnSpPr/>
              <p:nvPr/>
            </p:nvCxnSpPr>
            <p:spPr>
              <a:xfrm>
                <a:off x="1142976" y="3786191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961" name="TextBox 9">
              <a:extLst>
                <a:ext uri="{FF2B5EF4-FFF2-40B4-BE49-F238E27FC236}">
                  <a16:creationId xmlns:a16="http://schemas.microsoft.com/office/drawing/2014/main" id="{8BFEAB45-0E16-787E-2966-9B3CD33FA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6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TRAINING</a:t>
              </a:r>
            </a:p>
          </p:txBody>
        </p:sp>
        <p:sp>
          <p:nvSpPr>
            <p:cNvPr id="37962" name="TextBox 11">
              <a:extLst>
                <a:ext uri="{FF2B5EF4-FFF2-40B4-BE49-F238E27FC236}">
                  <a16:creationId xmlns:a16="http://schemas.microsoft.com/office/drawing/2014/main" id="{9AE527B6-DEDA-B5E7-CF75-4A45C83E9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7891" name="Group 13">
            <a:extLst>
              <a:ext uri="{FF2B5EF4-FFF2-40B4-BE49-F238E27FC236}">
                <a16:creationId xmlns:a16="http://schemas.microsoft.com/office/drawing/2014/main" id="{48F12043-E946-E3CE-B58E-5D5B1296D190}"/>
              </a:ext>
            </a:extLst>
          </p:cNvPr>
          <p:cNvGrpSpPr>
            <a:grpSpLocks/>
          </p:cNvGrpSpPr>
          <p:nvPr/>
        </p:nvGrpSpPr>
        <p:grpSpPr bwMode="auto">
          <a:xfrm>
            <a:off x="3214688" y="1500188"/>
            <a:ext cx="2643187" cy="2286000"/>
            <a:chOff x="500034" y="1500174"/>
            <a:chExt cx="2643206" cy="22860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143743-8AB6-0BF0-5179-D8A203C081B0}"/>
                </a:ext>
              </a:extLst>
            </p:cNvPr>
            <p:cNvSpPr/>
            <p:nvPr/>
          </p:nvSpPr>
          <p:spPr>
            <a:xfrm>
              <a:off x="500034" y="1500174"/>
              <a:ext cx="2643206" cy="22860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7954" name="Group 15">
              <a:extLst>
                <a:ext uri="{FF2B5EF4-FFF2-40B4-BE49-F238E27FC236}">
                  <a16:creationId xmlns:a16="http://schemas.microsoft.com/office/drawing/2014/main" id="{77F7DF48-9536-D4C5-7BD2-274923DC8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464304A9-024B-372B-4675-AAB11FA37A2F}"/>
                  </a:ext>
                </a:extLst>
              </p:cNvPr>
              <p:cNvCxnSpPr/>
              <p:nvPr/>
            </p:nvCxnSpPr>
            <p:spPr>
              <a:xfrm rot="5400000" flipH="1" flipV="1">
                <a:off x="320645" y="2965448"/>
                <a:ext cx="1643076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B207E8E-A005-4589-4632-981342CA9C1D}"/>
                  </a:ext>
                </a:extLst>
              </p:cNvPr>
              <p:cNvCxnSpPr/>
              <p:nvPr/>
            </p:nvCxnSpPr>
            <p:spPr>
              <a:xfrm>
                <a:off x="1142976" y="3786193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955" name="TextBox 16">
              <a:extLst>
                <a:ext uri="{FF2B5EF4-FFF2-40B4-BE49-F238E27FC236}">
                  <a16:creationId xmlns:a16="http://schemas.microsoft.com/office/drawing/2014/main" id="{E06708B8-9BBE-74DE-51BF-AE4EBA34C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7382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TRAINING</a:t>
              </a:r>
            </a:p>
          </p:txBody>
        </p:sp>
        <p:sp>
          <p:nvSpPr>
            <p:cNvPr id="37956" name="TextBox 17">
              <a:extLst>
                <a:ext uri="{FF2B5EF4-FFF2-40B4-BE49-F238E27FC236}">
                  <a16:creationId xmlns:a16="http://schemas.microsoft.com/office/drawing/2014/main" id="{4CE55C56-90A9-FAA3-2863-46E8A989B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7892" name="Group 20">
            <a:extLst>
              <a:ext uri="{FF2B5EF4-FFF2-40B4-BE49-F238E27FC236}">
                <a16:creationId xmlns:a16="http://schemas.microsoft.com/office/drawing/2014/main" id="{2E3080A3-C3BF-8219-77BB-F9E50607B901}"/>
              </a:ext>
            </a:extLst>
          </p:cNvPr>
          <p:cNvGrpSpPr>
            <a:grpSpLocks/>
          </p:cNvGrpSpPr>
          <p:nvPr/>
        </p:nvGrpSpPr>
        <p:grpSpPr bwMode="auto">
          <a:xfrm>
            <a:off x="6215063" y="1500188"/>
            <a:ext cx="2643187" cy="2286000"/>
            <a:chOff x="500034" y="1500174"/>
            <a:chExt cx="2643206" cy="228601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134D66D-BEAE-6502-A6DC-17E9ACD7C9EF}"/>
                </a:ext>
              </a:extLst>
            </p:cNvPr>
            <p:cNvSpPr/>
            <p:nvPr/>
          </p:nvSpPr>
          <p:spPr>
            <a:xfrm>
              <a:off x="500034" y="1500174"/>
              <a:ext cx="2643206" cy="22860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7948" name="Group 22">
              <a:extLst>
                <a:ext uri="{FF2B5EF4-FFF2-40B4-BE49-F238E27FC236}">
                  <a16:creationId xmlns:a16="http://schemas.microsoft.com/office/drawing/2014/main" id="{F554AF0C-6F3D-A3B6-65F3-E0F3DA5D84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47DBA8E5-01AF-59A0-F738-A43D4203DCDC}"/>
                  </a:ext>
                </a:extLst>
              </p:cNvPr>
              <p:cNvCxnSpPr/>
              <p:nvPr/>
            </p:nvCxnSpPr>
            <p:spPr>
              <a:xfrm rot="5400000" flipH="1" flipV="1">
                <a:off x="320645" y="2965448"/>
                <a:ext cx="1643076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F4555EF2-6170-01DD-C2A6-DF7755017486}"/>
                  </a:ext>
                </a:extLst>
              </p:cNvPr>
              <p:cNvCxnSpPr/>
              <p:nvPr/>
            </p:nvCxnSpPr>
            <p:spPr>
              <a:xfrm>
                <a:off x="1142976" y="3786193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949" name="TextBox 23">
              <a:extLst>
                <a:ext uri="{FF2B5EF4-FFF2-40B4-BE49-F238E27FC236}">
                  <a16:creationId xmlns:a16="http://schemas.microsoft.com/office/drawing/2014/main" id="{4D184C31-AB1F-A49C-21F6-6C8526B68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7382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TRAINING</a:t>
              </a:r>
            </a:p>
          </p:txBody>
        </p:sp>
        <p:sp>
          <p:nvSpPr>
            <p:cNvPr id="37950" name="TextBox 24">
              <a:extLst>
                <a:ext uri="{FF2B5EF4-FFF2-40B4-BE49-F238E27FC236}">
                  <a16:creationId xmlns:a16="http://schemas.microsoft.com/office/drawing/2014/main" id="{F287E684-92D0-6A6B-CF55-BD6B7790F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7893" name="Group 27">
            <a:extLst>
              <a:ext uri="{FF2B5EF4-FFF2-40B4-BE49-F238E27FC236}">
                <a16:creationId xmlns:a16="http://schemas.microsoft.com/office/drawing/2014/main" id="{16667B3B-12DF-647F-56E4-5D6781B6A784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4214813"/>
            <a:ext cx="2643188" cy="2286000"/>
            <a:chOff x="500034" y="1500174"/>
            <a:chExt cx="2643206" cy="228601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84F753-75CD-CEF7-67D2-7B3EA38EF1A8}"/>
                </a:ext>
              </a:extLst>
            </p:cNvPr>
            <p:cNvSpPr/>
            <p:nvPr/>
          </p:nvSpPr>
          <p:spPr>
            <a:xfrm>
              <a:off x="500034" y="1500174"/>
              <a:ext cx="2643206" cy="22860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7942" name="Group 29">
              <a:extLst>
                <a:ext uri="{FF2B5EF4-FFF2-40B4-BE49-F238E27FC236}">
                  <a16:creationId xmlns:a16="http://schemas.microsoft.com/office/drawing/2014/main" id="{33DAC8B2-4174-0810-DADD-6EA64E01A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B5A7005-9FDD-7457-BF27-EF63C3B19FDB}"/>
                  </a:ext>
                </a:extLst>
              </p:cNvPr>
              <p:cNvCxnSpPr/>
              <p:nvPr/>
            </p:nvCxnSpPr>
            <p:spPr>
              <a:xfrm rot="5400000" flipH="1" flipV="1">
                <a:off x="311913" y="2956717"/>
                <a:ext cx="1643076" cy="190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55C40DC-B3ED-45A0-0FEC-6D22388BF778}"/>
                  </a:ext>
                </a:extLst>
              </p:cNvPr>
              <p:cNvCxnSpPr/>
              <p:nvPr/>
            </p:nvCxnSpPr>
            <p:spPr>
              <a:xfrm>
                <a:off x="1142976" y="3786193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943" name="TextBox 30">
              <a:extLst>
                <a:ext uri="{FF2B5EF4-FFF2-40B4-BE49-F238E27FC236}">
                  <a16:creationId xmlns:a16="http://schemas.microsoft.com/office/drawing/2014/main" id="{76A78277-277A-82A9-1DC0-8DD6A89A2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7382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TRAINING</a:t>
              </a:r>
            </a:p>
          </p:txBody>
        </p:sp>
        <p:sp>
          <p:nvSpPr>
            <p:cNvPr id="37944" name="TextBox 31">
              <a:extLst>
                <a:ext uri="{FF2B5EF4-FFF2-40B4-BE49-F238E27FC236}">
                  <a16:creationId xmlns:a16="http://schemas.microsoft.com/office/drawing/2014/main" id="{29D243E2-DC38-4FB6-4B83-742775BBC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7894" name="Group 34">
            <a:extLst>
              <a:ext uri="{FF2B5EF4-FFF2-40B4-BE49-F238E27FC236}">
                <a16:creationId xmlns:a16="http://schemas.microsoft.com/office/drawing/2014/main" id="{CBBD6355-A9B1-E8FB-6370-F4BE5E2B8D4C}"/>
              </a:ext>
            </a:extLst>
          </p:cNvPr>
          <p:cNvGrpSpPr>
            <a:grpSpLocks/>
          </p:cNvGrpSpPr>
          <p:nvPr/>
        </p:nvGrpSpPr>
        <p:grpSpPr bwMode="auto">
          <a:xfrm>
            <a:off x="3500438" y="4214813"/>
            <a:ext cx="2643187" cy="2286000"/>
            <a:chOff x="500034" y="1500174"/>
            <a:chExt cx="2643206" cy="228601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E0CAD8D-9835-11CB-49B8-AB0CA51FA054}"/>
                </a:ext>
              </a:extLst>
            </p:cNvPr>
            <p:cNvSpPr/>
            <p:nvPr/>
          </p:nvSpPr>
          <p:spPr>
            <a:xfrm>
              <a:off x="500034" y="1500174"/>
              <a:ext cx="2643206" cy="22860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7936" name="Group 36">
              <a:extLst>
                <a:ext uri="{FF2B5EF4-FFF2-40B4-BE49-F238E27FC236}">
                  <a16:creationId xmlns:a16="http://schemas.microsoft.com/office/drawing/2014/main" id="{22960DBF-CF8A-392C-9688-422FE8C7C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28EFCDD3-AD0B-4F85-554B-85F491A4F54F}"/>
                  </a:ext>
                </a:extLst>
              </p:cNvPr>
              <p:cNvCxnSpPr/>
              <p:nvPr/>
            </p:nvCxnSpPr>
            <p:spPr>
              <a:xfrm rot="5400000" flipH="1" flipV="1">
                <a:off x="320646" y="2965447"/>
                <a:ext cx="164307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3FBC8E3-2E51-D9F7-9215-2EA4F85C4D33}"/>
                  </a:ext>
                </a:extLst>
              </p:cNvPr>
              <p:cNvCxnSpPr/>
              <p:nvPr/>
            </p:nvCxnSpPr>
            <p:spPr>
              <a:xfrm>
                <a:off x="1142976" y="3786191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937" name="TextBox 37">
              <a:extLst>
                <a:ext uri="{FF2B5EF4-FFF2-40B4-BE49-F238E27FC236}">
                  <a16:creationId xmlns:a16="http://schemas.microsoft.com/office/drawing/2014/main" id="{2421385E-3BC5-DFCE-C535-57F9DE630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69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TRAINING</a:t>
              </a:r>
            </a:p>
          </p:txBody>
        </p:sp>
        <p:sp>
          <p:nvSpPr>
            <p:cNvPr id="37938" name="TextBox 38">
              <a:extLst>
                <a:ext uri="{FF2B5EF4-FFF2-40B4-BE49-F238E27FC236}">
                  <a16:creationId xmlns:a16="http://schemas.microsoft.com/office/drawing/2014/main" id="{6A71B625-1E84-EED6-AF32-57F7A3817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grpSp>
        <p:nvGrpSpPr>
          <p:cNvPr id="37895" name="Group 41">
            <a:extLst>
              <a:ext uri="{FF2B5EF4-FFF2-40B4-BE49-F238E27FC236}">
                <a16:creationId xmlns:a16="http://schemas.microsoft.com/office/drawing/2014/main" id="{7840BDB0-AFA4-8DF4-6C4D-718BD3718DB0}"/>
              </a:ext>
            </a:extLst>
          </p:cNvPr>
          <p:cNvGrpSpPr>
            <a:grpSpLocks/>
          </p:cNvGrpSpPr>
          <p:nvPr/>
        </p:nvGrpSpPr>
        <p:grpSpPr bwMode="auto">
          <a:xfrm>
            <a:off x="6215063" y="4214813"/>
            <a:ext cx="2643187" cy="2286000"/>
            <a:chOff x="500034" y="1500174"/>
            <a:chExt cx="2643206" cy="228601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D80CBB-ED79-4767-04D5-EC11888A7BA5}"/>
                </a:ext>
              </a:extLst>
            </p:cNvPr>
            <p:cNvSpPr/>
            <p:nvPr/>
          </p:nvSpPr>
          <p:spPr>
            <a:xfrm>
              <a:off x="500034" y="1500174"/>
              <a:ext cx="2643206" cy="22860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342900" indent="-342900" algn="ctr" eaLnBrk="1" hangingPunct="1">
                <a:buFontTx/>
                <a:buAutoNum type="arabicPlain"/>
                <a:defRPr/>
              </a:pPr>
              <a:endParaRPr lang="en-GB" dirty="0"/>
            </a:p>
          </p:txBody>
        </p:sp>
        <p:grpSp>
          <p:nvGrpSpPr>
            <p:cNvPr id="37930" name="Group 43">
              <a:extLst>
                <a:ext uri="{FF2B5EF4-FFF2-40B4-BE49-F238E27FC236}">
                  <a16:creationId xmlns:a16="http://schemas.microsoft.com/office/drawing/2014/main" id="{B3F5AFAB-0D40-BF28-74D8-AF53B21946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6430" y="1715282"/>
              <a:ext cx="2001058" cy="1643868"/>
              <a:chOff x="1142182" y="2143910"/>
              <a:chExt cx="2001058" cy="1643868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9744029C-9753-EEEE-B590-2A6CE6034E91}"/>
                  </a:ext>
                </a:extLst>
              </p:cNvPr>
              <p:cNvCxnSpPr/>
              <p:nvPr/>
            </p:nvCxnSpPr>
            <p:spPr>
              <a:xfrm rot="5400000" flipH="1" flipV="1">
                <a:off x="320645" y="2965448"/>
                <a:ext cx="1643076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F7E76546-E301-B74E-B25B-973594C967DA}"/>
                  </a:ext>
                </a:extLst>
              </p:cNvPr>
              <p:cNvCxnSpPr/>
              <p:nvPr/>
            </p:nvCxnSpPr>
            <p:spPr>
              <a:xfrm>
                <a:off x="1142976" y="3786193"/>
                <a:ext cx="2000264" cy="15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931" name="TextBox 44">
              <a:extLst>
                <a:ext uri="{FF2B5EF4-FFF2-40B4-BE49-F238E27FC236}">
                  <a16:creationId xmlns:a16="http://schemas.microsoft.com/office/drawing/2014/main" id="{1EA362AE-5B86-338E-5E9E-E90167FB1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3324525"/>
              <a:ext cx="1177382" cy="461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1                   2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   TRAINING</a:t>
              </a:r>
            </a:p>
          </p:txBody>
        </p:sp>
        <p:sp>
          <p:nvSpPr>
            <p:cNvPr id="37932" name="TextBox 45">
              <a:extLst>
                <a:ext uri="{FF2B5EF4-FFF2-40B4-BE49-F238E27FC236}">
                  <a16:creationId xmlns:a16="http://schemas.microsoft.com/office/drawing/2014/main" id="{FFB480F0-DEAA-4FAB-8C2E-DE0C7380A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5795" y="2428868"/>
              <a:ext cx="10454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>
                  <a:latin typeface="Arial" panose="020B0604020202020204" pitchFamily="34" charset="0"/>
                </a:rPr>
                <a:t>performance</a:t>
              </a:r>
            </a:p>
          </p:txBody>
        </p: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32DF89F-5889-38F6-DC10-16A2F7C40E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2875" y="204788"/>
            <a:ext cx="428625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/>
          </a:extLst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A418234-38B7-B2D5-B99E-4CDC1ED55FD3}"/>
              </a:ext>
            </a:extLst>
          </p:cNvPr>
          <p:cNvCxnSpPr/>
          <p:nvPr/>
        </p:nvCxnSpPr>
        <p:spPr>
          <a:xfrm>
            <a:off x="142875" y="500063"/>
            <a:ext cx="500063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7898" name="TextBox 79">
            <a:extLst>
              <a:ext uri="{FF2B5EF4-FFF2-40B4-BE49-F238E27FC236}">
                <a16:creationId xmlns:a16="http://schemas.microsoft.com/office/drawing/2014/main" id="{9E8DC4F3-7EC5-D73E-B899-5E9020C30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71438"/>
            <a:ext cx="498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</a:rPr>
              <a:t>iCub</a:t>
            </a:r>
          </a:p>
        </p:txBody>
      </p:sp>
      <p:sp>
        <p:nvSpPr>
          <p:cNvPr id="37899" name="TextBox 80">
            <a:extLst>
              <a:ext uri="{FF2B5EF4-FFF2-40B4-BE49-F238E27FC236}">
                <a16:creationId xmlns:a16="http://schemas.microsoft.com/office/drawing/2014/main" id="{246F3344-B5C8-C984-46E4-4EA8B87C4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357188"/>
            <a:ext cx="508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200">
                <a:latin typeface="Arial" panose="020B0604020202020204" pitchFamily="34" charset="0"/>
              </a:rPr>
              <a:t>ecce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BD9A41B-3226-BCB9-4600-B12CFF6E10BF}"/>
              </a:ext>
            </a:extLst>
          </p:cNvPr>
          <p:cNvSpPr/>
          <p:nvPr/>
        </p:nvSpPr>
        <p:spPr>
          <a:xfrm>
            <a:off x="1000125" y="2500313"/>
            <a:ext cx="142875" cy="8572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F05223-C168-1FBD-F047-F7F5F0864EE0}"/>
              </a:ext>
            </a:extLst>
          </p:cNvPr>
          <p:cNvSpPr/>
          <p:nvPr/>
        </p:nvSpPr>
        <p:spPr>
          <a:xfrm>
            <a:off x="1928813" y="2500313"/>
            <a:ext cx="142875" cy="8572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822AB9D-1059-3A9F-13D1-E7CC71010F05}"/>
              </a:ext>
            </a:extLst>
          </p:cNvPr>
          <p:cNvSpPr/>
          <p:nvPr/>
        </p:nvSpPr>
        <p:spPr>
          <a:xfrm>
            <a:off x="1143000" y="2500313"/>
            <a:ext cx="142875" cy="8572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03F5C1F-FB96-B6A2-754D-305CF898D5D5}"/>
              </a:ext>
            </a:extLst>
          </p:cNvPr>
          <p:cNvSpPr/>
          <p:nvPr/>
        </p:nvSpPr>
        <p:spPr>
          <a:xfrm>
            <a:off x="2071688" y="2500313"/>
            <a:ext cx="142875" cy="8572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3E34B11-4965-AC67-5745-458A31F1507E}"/>
              </a:ext>
            </a:extLst>
          </p:cNvPr>
          <p:cNvSpPr/>
          <p:nvPr/>
        </p:nvSpPr>
        <p:spPr>
          <a:xfrm>
            <a:off x="4000500" y="2097088"/>
            <a:ext cx="142875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87C1E8E-7B4C-480C-8B2A-3C0380D02D13}"/>
              </a:ext>
            </a:extLst>
          </p:cNvPr>
          <p:cNvSpPr/>
          <p:nvPr/>
        </p:nvSpPr>
        <p:spPr>
          <a:xfrm>
            <a:off x="4929188" y="2097088"/>
            <a:ext cx="142875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4F57058-8FCB-D1E3-B97D-16FA645D5402}"/>
              </a:ext>
            </a:extLst>
          </p:cNvPr>
          <p:cNvSpPr/>
          <p:nvPr/>
        </p:nvSpPr>
        <p:spPr>
          <a:xfrm>
            <a:off x="4143375" y="2786063"/>
            <a:ext cx="142875" cy="57626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EE6DB78-FB93-CEFC-BCEA-FA6E6A914199}"/>
              </a:ext>
            </a:extLst>
          </p:cNvPr>
          <p:cNvSpPr/>
          <p:nvPr/>
        </p:nvSpPr>
        <p:spPr>
          <a:xfrm>
            <a:off x="5072063" y="2786063"/>
            <a:ext cx="142875" cy="57626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F35B6DE-4590-DFA8-8FC0-C725C08EEAA4}"/>
              </a:ext>
            </a:extLst>
          </p:cNvPr>
          <p:cNvSpPr/>
          <p:nvPr/>
        </p:nvSpPr>
        <p:spPr>
          <a:xfrm>
            <a:off x="7000875" y="2097088"/>
            <a:ext cx="142875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CD4765E-97BA-5CC3-9D71-181E111703B0}"/>
              </a:ext>
            </a:extLst>
          </p:cNvPr>
          <p:cNvSpPr/>
          <p:nvPr/>
        </p:nvSpPr>
        <p:spPr>
          <a:xfrm>
            <a:off x="7929563" y="3000375"/>
            <a:ext cx="142875" cy="3603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2561A05-304E-3A24-DDC5-18630E0023F1}"/>
              </a:ext>
            </a:extLst>
          </p:cNvPr>
          <p:cNvSpPr/>
          <p:nvPr/>
        </p:nvSpPr>
        <p:spPr>
          <a:xfrm>
            <a:off x="7143750" y="2097088"/>
            <a:ext cx="142875" cy="12604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A3E241E-5C78-C0B4-9378-6594E061FC2C}"/>
              </a:ext>
            </a:extLst>
          </p:cNvPr>
          <p:cNvSpPr/>
          <p:nvPr/>
        </p:nvSpPr>
        <p:spPr>
          <a:xfrm>
            <a:off x="8072438" y="3000375"/>
            <a:ext cx="142875" cy="3603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CD3E77A-AACE-AD74-6E26-54ECE437F6A2}"/>
              </a:ext>
            </a:extLst>
          </p:cNvPr>
          <p:cNvSpPr/>
          <p:nvPr/>
        </p:nvSpPr>
        <p:spPr>
          <a:xfrm>
            <a:off x="1000125" y="4500563"/>
            <a:ext cx="142875" cy="1571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EA6B534-CBF4-D214-C9EC-DFDD08EE3A35}"/>
              </a:ext>
            </a:extLst>
          </p:cNvPr>
          <p:cNvSpPr/>
          <p:nvPr/>
        </p:nvSpPr>
        <p:spPr>
          <a:xfrm>
            <a:off x="1928813" y="5214938"/>
            <a:ext cx="142875" cy="8572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8320DF3-66C7-C337-7B99-916D7909F64F}"/>
              </a:ext>
            </a:extLst>
          </p:cNvPr>
          <p:cNvSpPr/>
          <p:nvPr/>
        </p:nvSpPr>
        <p:spPr>
          <a:xfrm>
            <a:off x="1143000" y="5214938"/>
            <a:ext cx="142875" cy="8572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872CD51-A263-016F-2560-C78CD691FC29}"/>
              </a:ext>
            </a:extLst>
          </p:cNvPr>
          <p:cNvSpPr/>
          <p:nvPr/>
        </p:nvSpPr>
        <p:spPr>
          <a:xfrm>
            <a:off x="2071688" y="5892800"/>
            <a:ext cx="142875" cy="1793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EFD5055-7C1E-B843-363B-F8B8BF35D7F7}"/>
              </a:ext>
            </a:extLst>
          </p:cNvPr>
          <p:cNvSpPr/>
          <p:nvPr/>
        </p:nvSpPr>
        <p:spPr>
          <a:xfrm>
            <a:off x="4286250" y="4811713"/>
            <a:ext cx="142875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1815F17-9024-1B2E-DA2D-F98DEA2E60FF}"/>
              </a:ext>
            </a:extLst>
          </p:cNvPr>
          <p:cNvSpPr/>
          <p:nvPr/>
        </p:nvSpPr>
        <p:spPr>
          <a:xfrm>
            <a:off x="5214938" y="5711825"/>
            <a:ext cx="142875" cy="3603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6440FDB-60CE-5462-FE3B-3CC819107C18}"/>
              </a:ext>
            </a:extLst>
          </p:cNvPr>
          <p:cNvSpPr/>
          <p:nvPr/>
        </p:nvSpPr>
        <p:spPr>
          <a:xfrm>
            <a:off x="4429125" y="5711825"/>
            <a:ext cx="142875" cy="3603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A6EC188-48C8-CDA9-319E-D2FE101D3FD4}"/>
              </a:ext>
            </a:extLst>
          </p:cNvPr>
          <p:cNvSpPr/>
          <p:nvPr/>
        </p:nvSpPr>
        <p:spPr>
          <a:xfrm>
            <a:off x="5357813" y="4811713"/>
            <a:ext cx="142875" cy="12604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882D4DB-346D-1373-B38E-422E9A7BE7DB}"/>
              </a:ext>
            </a:extLst>
          </p:cNvPr>
          <p:cNvSpPr/>
          <p:nvPr/>
        </p:nvSpPr>
        <p:spPr>
          <a:xfrm>
            <a:off x="7000875" y="5214938"/>
            <a:ext cx="142875" cy="8572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EBE8B8F-6CA1-6048-7BA5-EA2834C814A4}"/>
              </a:ext>
            </a:extLst>
          </p:cNvPr>
          <p:cNvSpPr/>
          <p:nvPr/>
        </p:nvSpPr>
        <p:spPr>
          <a:xfrm>
            <a:off x="7929563" y="5715000"/>
            <a:ext cx="142875" cy="3603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0679CEA-8463-3AA4-215A-4E51645C5B49}"/>
              </a:ext>
            </a:extLst>
          </p:cNvPr>
          <p:cNvSpPr/>
          <p:nvPr/>
        </p:nvSpPr>
        <p:spPr>
          <a:xfrm>
            <a:off x="7143750" y="5214938"/>
            <a:ext cx="142875" cy="8572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7DDBBC5-7B41-6339-123A-D0CAA5598615}"/>
              </a:ext>
            </a:extLst>
          </p:cNvPr>
          <p:cNvSpPr/>
          <p:nvPr/>
        </p:nvSpPr>
        <p:spPr>
          <a:xfrm>
            <a:off x="8072438" y="4811713"/>
            <a:ext cx="142875" cy="12604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37924" name="TextBox 105">
            <a:extLst>
              <a:ext uri="{FF2B5EF4-FFF2-40B4-BE49-F238E27FC236}">
                <a16:creationId xmlns:a16="http://schemas.microsoft.com/office/drawing/2014/main" id="{959D3D65-B039-EDB9-77F8-DA0A783C3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3733800"/>
            <a:ext cx="17795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nothing significant</a:t>
            </a:r>
          </a:p>
        </p:txBody>
      </p:sp>
      <p:sp>
        <p:nvSpPr>
          <p:cNvPr id="37925" name="TextBox 106">
            <a:extLst>
              <a:ext uri="{FF2B5EF4-FFF2-40B4-BE49-F238E27FC236}">
                <a16:creationId xmlns:a16="http://schemas.microsoft.com/office/drawing/2014/main" id="{614CE41A-3BCF-4C4B-DC6C-A9613BAC1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663" y="3733800"/>
            <a:ext cx="17954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ROBOT significant</a:t>
            </a:r>
          </a:p>
        </p:txBody>
      </p:sp>
      <p:sp>
        <p:nvSpPr>
          <p:cNvPr id="37926" name="TextBox 107">
            <a:extLst>
              <a:ext uri="{FF2B5EF4-FFF2-40B4-BE49-F238E27FC236}">
                <a16:creationId xmlns:a16="http://schemas.microsoft.com/office/drawing/2014/main" id="{63B3566D-5ACC-BF1B-6F51-7F518731F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733800"/>
            <a:ext cx="15271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AGE significant</a:t>
            </a:r>
          </a:p>
        </p:txBody>
      </p:sp>
      <p:sp>
        <p:nvSpPr>
          <p:cNvPr id="37927" name="TextBox 108">
            <a:extLst>
              <a:ext uri="{FF2B5EF4-FFF2-40B4-BE49-F238E27FC236}">
                <a16:creationId xmlns:a16="http://schemas.microsoft.com/office/drawing/2014/main" id="{378660CC-C534-6DDC-4CAE-2F4324EBE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6500813"/>
            <a:ext cx="23574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ROBOT , AGE significant</a:t>
            </a:r>
          </a:p>
        </p:txBody>
      </p:sp>
      <p:sp>
        <p:nvSpPr>
          <p:cNvPr id="37928" name="TextBox 109">
            <a:extLst>
              <a:ext uri="{FF2B5EF4-FFF2-40B4-BE49-F238E27FC236}">
                <a16:creationId xmlns:a16="http://schemas.microsoft.com/office/drawing/2014/main" id="{0080CA29-6C84-7923-817A-218B99845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5963" y="6500813"/>
            <a:ext cx="33321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>
                <a:latin typeface="Times New Roman" panose="02020603050405020304" pitchFamily="18" charset="0"/>
              </a:rPr>
              <a:t>ROBOTxAGE significant interaction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930D461C-3C53-5985-564B-A074CD727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More than just ANOVA</a:t>
            </a:r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3456F18E-629D-1261-25DF-1011A99F8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357313"/>
            <a:ext cx="8686800" cy="4525962"/>
          </a:xfrm>
        </p:spPr>
        <p:txBody>
          <a:bodyPr/>
          <a:lstStyle/>
          <a:p>
            <a:pPr eaLnBrk="1" hangingPunct="1"/>
            <a:r>
              <a:rPr lang="en-GB" altLang="en-US" sz="2800" dirty="0">
                <a:ea typeface="ＭＳ Ｐゴシック" panose="020B0600070205080204" pitchFamily="34" charset="-128"/>
              </a:rPr>
              <a:t>T-test</a:t>
            </a:r>
          </a:p>
          <a:p>
            <a:pPr lvl="1" eaLnBrk="1" hangingPunct="1"/>
            <a:r>
              <a:rPr lang="en-GB" altLang="en-US" sz="2400" dirty="0">
                <a:ea typeface="ＭＳ Ｐゴシック" panose="020B0600070205080204" pitchFamily="34" charset="-128"/>
              </a:rPr>
              <a:t>Two compare 2 means only (=to one-way </a:t>
            </a:r>
            <a:r>
              <a:rPr lang="en-GB" altLang="en-US" sz="2400" dirty="0" err="1">
                <a:ea typeface="ＭＳ Ｐゴシック" panose="020B0600070205080204" pitchFamily="34" charset="-128"/>
              </a:rPr>
              <a:t>anova</a:t>
            </a:r>
            <a:r>
              <a:rPr lang="en-GB" altLang="en-US" sz="2400" dirty="0">
                <a:ea typeface="ＭＳ Ｐゴシック" panose="020B0600070205080204" pitchFamily="34" charset="-128"/>
              </a:rPr>
              <a:t> with 2 levels)</a:t>
            </a:r>
          </a:p>
          <a:p>
            <a:pPr eaLnBrk="1" hangingPunct="1"/>
            <a:r>
              <a:rPr lang="en-GB" altLang="en-US" sz="2800" dirty="0">
                <a:ea typeface="ＭＳ Ｐゴシック" panose="020B0600070205080204" pitchFamily="34" charset="-128"/>
              </a:rPr>
              <a:t>Correlations</a:t>
            </a:r>
          </a:p>
          <a:p>
            <a:pPr lvl="1" eaLnBrk="1" hangingPunct="1"/>
            <a:r>
              <a:rPr lang="en-GB" altLang="en-US" sz="2400" dirty="0">
                <a:ea typeface="ＭＳ Ｐゴシック" panose="020B0600070205080204" pitchFamily="34" charset="-128"/>
              </a:rPr>
              <a:t>Between many pairs of dependent variables</a:t>
            </a:r>
          </a:p>
          <a:p>
            <a:pPr lvl="1" eaLnBrk="1" hangingPunct="1"/>
            <a:r>
              <a:rPr lang="en-GB" altLang="en-US" sz="2400" dirty="0">
                <a:ea typeface="ＭＳ Ｐゴシック" panose="020B0600070205080204" pitchFamily="34" charset="-128"/>
              </a:rPr>
              <a:t>When the independent variables would have too many levels</a:t>
            </a:r>
          </a:p>
          <a:p>
            <a:pPr eaLnBrk="1" hangingPunct="1"/>
            <a:r>
              <a:rPr lang="en-GB" altLang="en-US" sz="2800" dirty="0">
                <a:ea typeface="ＭＳ Ｐゴシック" panose="020B0600070205080204" pitchFamily="34" charset="-128"/>
              </a:rPr>
              <a:t>Chi square</a:t>
            </a:r>
          </a:p>
          <a:p>
            <a:pPr lvl="1" eaLnBrk="1" hangingPunct="1"/>
            <a:r>
              <a:rPr lang="en-GB" altLang="en-US" sz="2400" dirty="0">
                <a:ea typeface="ＭＳ Ｐゴシック" panose="020B0600070205080204" pitchFamily="34" charset="-128"/>
              </a:rPr>
              <a:t>To compare distribution of frequencies</a:t>
            </a:r>
          </a:p>
          <a:p>
            <a:pPr eaLnBrk="1" hangingPunct="1"/>
            <a:r>
              <a:rPr lang="en-GB" altLang="en-US" sz="2800" dirty="0">
                <a:ea typeface="ＭＳ Ｐゴシック" panose="020B0600070205080204" pitchFamily="34" charset="-128"/>
              </a:rPr>
              <a:t>Factor analysis (ICA)</a:t>
            </a:r>
          </a:p>
          <a:p>
            <a:pPr lvl="1" eaLnBrk="1" hangingPunct="1"/>
            <a:r>
              <a:rPr lang="en-GB" altLang="en-US" sz="2400" dirty="0">
                <a:ea typeface="ＭＳ Ｐゴシック" panose="020B0600070205080204" pitchFamily="34" charset="-128"/>
              </a:rPr>
              <a:t>To reduce many (&gt;&gt;2) dependent variables to fewer (~2/3) combined factors</a:t>
            </a: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Multivariate </a:t>
            </a:r>
            <a:r>
              <a:rPr lang="en-GB" altLang="en-US">
                <a:ea typeface="ＭＳ Ｐゴシック" panose="020B0600070205080204" pitchFamily="34" charset="-128"/>
              </a:rPr>
              <a:t>Analysis...</a:t>
            </a:r>
            <a:endParaRPr lang="en-GB" altLang="en-US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 sz="2400" dirty="0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 sz="2400" dirty="0">
              <a:ea typeface="ＭＳ Ｐゴシック" panose="020B0600070205080204" pitchFamily="34" charset="-128"/>
            </a:endParaRPr>
          </a:p>
          <a:p>
            <a:pPr lvl="2" eaLnBrk="1" hangingPunct="1">
              <a:buFont typeface="Arial" panose="020B0604020202020204" pitchFamily="34" charset="0"/>
              <a:buChar char="–"/>
            </a:pPr>
            <a:endParaRPr lang="en-GB" altLang="en-US" sz="20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E6848C15-5237-D0F2-8E89-E187FF6E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Take home message</a:t>
            </a: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3105A44D-A249-1B9E-DE49-452558EA1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Plan experiment in advance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Make explicit experimental design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Always run pilot experiment(s)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Read experimental literature to see which experimental designs are commonly used and which analysis methods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Innovate literature tradition (with courage and caution)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97B2CC0A46AC4F9AEEC319A5D986DD" ma:contentTypeVersion="10" ma:contentTypeDescription="Create a new document." ma:contentTypeScope="" ma:versionID="49e7223294b286280a3c825ee6ca1b2a">
  <xsd:schema xmlns:xsd="http://www.w3.org/2001/XMLSchema" xmlns:xs="http://www.w3.org/2001/XMLSchema" xmlns:p="http://schemas.microsoft.com/office/2006/metadata/properties" xmlns:ns2="3db59c47-87aa-4831-b38a-f5382a46a091" targetNamespace="http://schemas.microsoft.com/office/2006/metadata/properties" ma:root="true" ma:fieldsID="96afceb3b12f35ebf654c18e756486ff" ns2:_="">
    <xsd:import namespace="3db59c47-87aa-4831-b38a-f5382a46a0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b59c47-87aa-4831-b38a-f5382a46a0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87555B-08D1-46B4-8BBE-6552A15026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552CD4-C54E-4047-A39F-D72F12CB53F7}"/>
</file>

<file path=customXml/itemProps3.xml><?xml version="1.0" encoding="utf-8"?>
<ds:datastoreItem xmlns:ds="http://schemas.openxmlformats.org/officeDocument/2006/customXml" ds:itemID="{593D7F6B-7DCA-4DA6-8569-3D160ABD9E8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1731</Words>
  <Application>Microsoft Office PowerPoint</Application>
  <PresentationFormat>Presentazione su schermo (4:3)</PresentationFormat>
  <Paragraphs>394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28" baseType="lpstr">
      <vt:lpstr>Office Theme</vt:lpstr>
      <vt:lpstr>(Very Concise) Introduction  to Research Methods and Data</vt:lpstr>
      <vt:lpstr>Outline</vt:lpstr>
      <vt:lpstr>General scientific hypotheses</vt:lpstr>
      <vt:lpstr>From general to specific hypothesis (operationalisation)</vt:lpstr>
      <vt:lpstr>From general to specific hypothesis (operationalisation)</vt:lpstr>
      <vt:lpstr>Operational Definition</vt:lpstr>
      <vt:lpstr>Experimental variables</vt:lpstr>
      <vt:lpstr>Independent Variables (Factors)</vt:lpstr>
      <vt:lpstr>Independent Variables: Treatment</vt:lpstr>
      <vt:lpstr>Random variables</vt:lpstr>
      <vt:lpstr>Dependent variables</vt:lpstr>
      <vt:lpstr>Experimental Design (Factorial)</vt:lpstr>
      <vt:lpstr>One-Way Between-Subject Design</vt:lpstr>
      <vt:lpstr>One-Way Between-Subject Design</vt:lpstr>
      <vt:lpstr>One-Way Within-Subject Design</vt:lpstr>
      <vt:lpstr>Factorial Full Between-Subject Design</vt:lpstr>
      <vt:lpstr>Factorial Full Within-Subject Design</vt:lpstr>
      <vt:lpstr>Mixed Design</vt:lpstr>
      <vt:lpstr>Analysis of results: Comparison of means with ANOVA</vt:lpstr>
      <vt:lpstr>ANOVA DEMO:  ONE WAY (BETWEEN) </vt:lpstr>
      <vt:lpstr>MANOVA DEMO:  ONE WAY (WITHIN) </vt:lpstr>
      <vt:lpstr>ANOVA DEMO:  2x2 BETWEEN</vt:lpstr>
      <vt:lpstr>MANOVA DEMO:  2x3 MIXED</vt:lpstr>
      <vt:lpstr>Overview of 2x2 within results</vt:lpstr>
      <vt:lpstr>Overview of 2x2 between results</vt:lpstr>
      <vt:lpstr>More than just ANOVA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Research Methods</dc:title>
  <dc:creator>angelo</dc:creator>
  <cp:lastModifiedBy>Angelo Cangelosi</cp:lastModifiedBy>
  <cp:revision>75</cp:revision>
  <dcterms:created xsi:type="dcterms:W3CDTF">2010-03-10T09:36:15Z</dcterms:created>
  <dcterms:modified xsi:type="dcterms:W3CDTF">2025-02-14T09:54:54Z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0x010100F597B2CC0A46AC4F9AEEC319A5D986DD</vt:lpwstr>
  </property>
</Properties>
</file>