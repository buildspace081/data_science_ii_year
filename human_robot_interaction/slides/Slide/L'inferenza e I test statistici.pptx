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7"/>
  </p:notesMasterIdLst>
  <p:sldIdLst>
    <p:sldId id="256" r:id="rId5"/>
    <p:sldId id="257" r:id="rId6"/>
    <p:sldId id="301" r:id="rId7"/>
    <p:sldId id="258" r:id="rId8"/>
    <p:sldId id="259" r:id="rId9"/>
    <p:sldId id="260" r:id="rId10"/>
    <p:sldId id="302" r:id="rId11"/>
    <p:sldId id="262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1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3" r:id="rId31"/>
    <p:sldId id="285" r:id="rId32"/>
    <p:sldId id="286" r:id="rId33"/>
    <p:sldId id="287" r:id="rId34"/>
    <p:sldId id="289" r:id="rId35"/>
    <p:sldId id="288" r:id="rId36"/>
    <p:sldId id="290" r:id="rId37"/>
    <p:sldId id="291" r:id="rId38"/>
    <p:sldId id="292" r:id="rId39"/>
    <p:sldId id="293" r:id="rId40"/>
    <p:sldId id="296" r:id="rId41"/>
    <p:sldId id="294" r:id="rId42"/>
    <p:sldId id="295" r:id="rId43"/>
    <p:sldId id="297" r:id="rId44"/>
    <p:sldId id="299" r:id="rId45"/>
    <p:sldId id="298" r:id="rId46"/>
  </p:sldIdLst>
  <p:sldSz cx="18288000" cy="10287000"/>
  <p:notesSz cx="6858000" cy="9144000"/>
  <p:embeddedFontLst>
    <p:embeddedFont>
      <p:font typeface="Arimo" panose="020B0604020202020204" charset="0"/>
      <p:regular r:id="rId48"/>
    </p:embeddedFont>
    <p:embeddedFont>
      <p:font typeface="Arimo Bold" panose="020B0604020202020204" charset="0"/>
      <p:regular r:id="rId49"/>
    </p:embeddedFont>
    <p:embeddedFont>
      <p:font typeface="Arimo Bold Italics" panose="020B0604020202020204" charset="0"/>
      <p:regular r:id="rId50"/>
    </p:embeddedFont>
    <p:embeddedFont>
      <p:font typeface="Arimo Italics" panose="020B0604020202020204" charset="0"/>
      <p:regular r:id="rId51"/>
    </p:embeddedFont>
    <p:embeddedFont>
      <p:font typeface="Evolventa Bold" panose="020B0604020202020204" charset="0"/>
      <p:regular r:id="rId5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1.fntdata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4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Verificare ipotesi sperimentali , il che passa attraverso un processo di inferenza che si avvale di calcoli probabilistici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2118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 dirty="0"/>
              <a:t>Manipolare, solitamente una condizione in cui misuriamo a </a:t>
            </a:r>
            <a:r>
              <a:rPr lang="it-IT" dirty="0" err="1"/>
              <a:t>v.d</a:t>
            </a:r>
            <a:r>
              <a:rPr lang="it-IT" dirty="0"/>
              <a:t>. senza </a:t>
            </a:r>
            <a:r>
              <a:rPr lang="it-IT" dirty="0" err="1"/>
              <a:t>v.i</a:t>
            </a:r>
            <a:r>
              <a:rPr lang="it-IT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B7FD-4B68-87F6-7175-3146485E2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48F891-58E0-95A8-9BD1-EF7C8E282B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B4B310-9287-FB82-B53F-9F3779904DE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DAC480E-8096-C54C-7048-13CFD31FA7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6B1C65-8558-CE95-DD52-D513ADDEB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 dirty="0"/>
              <a:t>Manipolare, solitamente una condizione in cui misuriamo a </a:t>
            </a:r>
            <a:r>
              <a:rPr lang="it-IT" dirty="0" err="1"/>
              <a:t>v.d</a:t>
            </a:r>
            <a:r>
              <a:rPr lang="it-IT" dirty="0"/>
              <a:t>. senza </a:t>
            </a:r>
            <a:r>
              <a:rPr lang="it-IT" dirty="0" err="1"/>
              <a:t>v.i</a:t>
            </a:r>
            <a:r>
              <a:rPr lang="it-IT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F5BD0-C86B-5D5B-867E-C3595E9524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09FD8-C0BA-B03F-C099-2048773F6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82284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-Fare </a:t>
            </a:r>
            <a:r>
              <a:rPr lang="en-US" dirty="0" err="1"/>
              <a:t>inferenze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-I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osserviamo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dipendente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-Noi </a:t>
            </a:r>
            <a:r>
              <a:rPr lang="en-US" dirty="0" err="1"/>
              <a:t>vediamo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la likeability è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per le </a:t>
            </a:r>
            <a:r>
              <a:rPr lang="en-US" dirty="0" err="1"/>
              <a:t>persone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potuto</a:t>
            </a:r>
            <a:r>
              <a:rPr lang="en-US" dirty="0"/>
              <a:t> </a:t>
            </a:r>
            <a:r>
              <a:rPr lang="en-US" dirty="0" err="1"/>
              <a:t>stringere</a:t>
            </a:r>
            <a:r>
              <a:rPr lang="en-US" dirty="0"/>
              <a:t> la mano</a:t>
            </a:r>
            <a:br>
              <a:rPr lang="en-US" dirty="0"/>
            </a:br>
            <a:r>
              <a:rPr lang="en-US" dirty="0"/>
              <a:t>-Non </a:t>
            </a:r>
            <a:r>
              <a:rPr lang="en-US" dirty="0" err="1"/>
              <a:t>possiamo</a:t>
            </a:r>
            <a:r>
              <a:rPr lang="en-US" dirty="0"/>
              <a:t> </a:t>
            </a:r>
            <a:r>
              <a:rPr lang="en-US" dirty="0" err="1"/>
              <a:t>basarci</a:t>
            </a:r>
            <a:r>
              <a:rPr lang="en-US" dirty="0"/>
              <a:t> solo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questo</a:t>
            </a:r>
            <a:r>
              <a:rPr lang="en-US" dirty="0"/>
              <a:t>, la </a:t>
            </a:r>
            <a:r>
              <a:rPr lang="en-US" dirty="0" err="1"/>
              <a:t>differenza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statisticamente</a:t>
            </a:r>
            <a:r>
              <a:rPr lang="en-US" dirty="0"/>
              <a:t> </a:t>
            </a:r>
            <a:r>
              <a:rPr lang="en-US" dirty="0" err="1"/>
              <a:t>significativa</a:t>
            </a:r>
            <a:r>
              <a:rPr lang="en-US" dirty="0"/>
              <a:t> = </a:t>
            </a:r>
            <a:r>
              <a:rPr lang="en-US" dirty="0" err="1"/>
              <a:t>stimare</a:t>
            </a:r>
            <a:r>
              <a:rPr lang="en-US" dirty="0"/>
              <a:t> se la grandezza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differenza</a:t>
            </a:r>
            <a:r>
              <a:rPr lang="en-US" dirty="0"/>
              <a:t> è tale per cui è </a:t>
            </a:r>
            <a:r>
              <a:rPr lang="en-US" dirty="0" err="1"/>
              <a:t>improbabile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dovuta</a:t>
            </a:r>
            <a:r>
              <a:rPr lang="en-US" dirty="0"/>
              <a:t> al </a:t>
            </a:r>
            <a:r>
              <a:rPr lang="en-US" dirty="0" err="1"/>
              <a:t>caso</a:t>
            </a:r>
            <a:r>
              <a:rPr lang="en-US" dirty="0"/>
              <a:t>. </a:t>
            </a:r>
            <a:r>
              <a:rPr lang="en-US" dirty="0" err="1"/>
              <a:t>Tutta</a:t>
            </a:r>
            <a:r>
              <a:rPr lang="en-US" dirty="0"/>
              <a:t> la </a:t>
            </a:r>
            <a:r>
              <a:rPr lang="en-US" dirty="0" err="1"/>
              <a:t>statistica</a:t>
            </a:r>
            <a:r>
              <a:rPr lang="en-US" dirty="0"/>
              <a:t> </a:t>
            </a:r>
            <a:r>
              <a:rPr lang="en-US" dirty="0" err="1"/>
              <a:t>inferenziale</a:t>
            </a:r>
            <a:r>
              <a:rPr lang="en-US" dirty="0"/>
              <a:t> </a:t>
            </a:r>
            <a:r>
              <a:rPr lang="en-US" dirty="0" err="1"/>
              <a:t>cerca</a:t>
            </a:r>
            <a:r>
              <a:rPr lang="en-US" dirty="0"/>
              <a:t> di fare </a:t>
            </a:r>
            <a:r>
              <a:rPr lang="en-US" dirty="0" err="1"/>
              <a:t>questo</a:t>
            </a:r>
            <a:r>
              <a:rPr lang="en-US" dirty="0"/>
              <a:t>, </a:t>
            </a:r>
            <a:r>
              <a:rPr lang="en-US" dirty="0" err="1"/>
              <a:t>cioè</a:t>
            </a:r>
            <a:r>
              <a:rPr lang="en-US" dirty="0"/>
              <a:t> la </a:t>
            </a:r>
            <a:r>
              <a:rPr lang="en-US" dirty="0" err="1"/>
              <a:t>decisione</a:t>
            </a:r>
            <a:r>
              <a:rPr lang="en-US" dirty="0"/>
              <a:t> </a:t>
            </a:r>
            <a:r>
              <a:rPr lang="en-US" dirty="0" err="1"/>
              <a:t>riguarda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è </a:t>
            </a:r>
            <a:r>
              <a:rPr lang="en-US" dirty="0" err="1"/>
              <a:t>probabile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nostri</a:t>
            </a:r>
            <a:r>
              <a:rPr lang="en-US" dirty="0"/>
              <a:t> </a:t>
            </a:r>
            <a:r>
              <a:rPr lang="en-US" dirty="0" err="1"/>
              <a:t>effetti</a:t>
            </a:r>
            <a:r>
              <a:rPr lang="en-US" dirty="0"/>
              <a:t>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casuali</a:t>
            </a:r>
            <a:r>
              <a:rPr lang="en-US" dirty="0"/>
              <a:t>? E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probabilità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sufficientemente</a:t>
            </a:r>
            <a:r>
              <a:rPr lang="en-US" dirty="0"/>
              <a:t> </a:t>
            </a:r>
            <a:r>
              <a:rPr lang="en-US" dirty="0" err="1"/>
              <a:t>bassa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Quanto è </a:t>
            </a:r>
            <a:r>
              <a:rPr lang="en-US" dirty="0" err="1"/>
              <a:t>probabile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v. d. </a:t>
            </a:r>
            <a:r>
              <a:rPr lang="en-US" dirty="0" err="1"/>
              <a:t>appartengano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condizione</a:t>
            </a:r>
            <a:r>
              <a:rPr lang="en-US" dirty="0"/>
              <a:t> in cui non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dovuti</a:t>
            </a:r>
            <a:r>
              <a:rPr lang="en-US" dirty="0"/>
              <a:t> alla </a:t>
            </a:r>
            <a:r>
              <a:rPr lang="en-US" dirty="0" err="1"/>
              <a:t>v.i.</a:t>
            </a:r>
            <a:r>
              <a:rPr lang="en-US" dirty="0"/>
              <a:t>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055A1-54D5-90A8-0A4E-9550498B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7B4611-2546-19DE-DFB0-EEBC23A96A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2D158-21D7-0E92-8313-AEB0656FBF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11C2E76-9FAC-850C-C6DE-30A5BE3222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720C85E-619D-6D7A-B2B1-11AAB3137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Cosa </a:t>
            </a:r>
            <a:r>
              <a:rPr lang="en-US" dirty="0" err="1"/>
              <a:t>sono</a:t>
            </a:r>
            <a:r>
              <a:rPr lang="en-US" dirty="0"/>
              <a:t> e </a:t>
            </a:r>
            <a:r>
              <a:rPr lang="en-US" dirty="0" err="1"/>
              <a:t>quali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le </a:t>
            </a:r>
            <a:r>
              <a:rPr lang="en-US" dirty="0" err="1"/>
              <a:t>principali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058F8-4C9A-BE45-622A-69139BC8CC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AB11CA-118E-0612-E011-299431AEF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3458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Asse x e 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meno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allontanano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molto da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questa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media.</a:t>
            </a:r>
            <a:b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</a:b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D.s.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misura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variabilità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dispersione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dei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dati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attorno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alla media. Indica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quanto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singoli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si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allontanano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31" dirty="0" err="1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dalla</a:t>
            </a:r>
            <a:r>
              <a:rPr lang="en-US" sz="1200" spc="31" dirty="0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 media.</a:t>
            </a:r>
          </a:p>
          <a:p>
            <a:pPr marL="0" marR="0" lvl="0" indent="0" algn="l" defTabSz="914400" rtl="0" eaLnBrk="1" fontAlgn="auto" latinLnBrk="0" hangingPunct="1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Più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d.s.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piccola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più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la curva è stretta e </a:t>
            </a:r>
            <a:r>
              <a:rPr lang="en-US" sz="1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viceversa</a:t>
            </a:r>
            <a:r>
              <a:rPr lang="en-US" sz="1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utilizza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L'asse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x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rappresenta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questi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possibili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L'asse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y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rappresenta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probabilità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(o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densità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probabilità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) di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ottenere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ciascun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valore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della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supponendo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H0​ </a:t>
            </a:r>
            <a:r>
              <a:rPr lang="en-US" sz="1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sia</a:t>
            </a:r>
            <a:r>
              <a:rPr lang="en-US" sz="1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vera.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35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9.png"/><Relationship Id="rId10" Type="http://schemas.openxmlformats.org/officeDocument/2006/relationships/image" Target="../media/image40.png"/><Relationship Id="rId4" Type="http://schemas.openxmlformats.org/officeDocument/2006/relationships/image" Target="../media/image3.png"/><Relationship Id="rId9" Type="http://schemas.openxmlformats.org/officeDocument/2006/relationships/image" Target="../media/image3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46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sv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" y="3885939"/>
            <a:ext cx="11388569" cy="6414343"/>
          </a:xfrm>
          <a:custGeom>
            <a:avLst/>
            <a:gdLst/>
            <a:ahLst/>
            <a:cxnLst/>
            <a:rect l="l" t="t" r="r" b="b"/>
            <a:pathLst>
              <a:path w="11388569" h="6414343">
                <a:moveTo>
                  <a:pt x="0" y="0"/>
                </a:moveTo>
                <a:lnTo>
                  <a:pt x="11388569" y="0"/>
                </a:lnTo>
                <a:lnTo>
                  <a:pt x="11388569" y="6414343"/>
                </a:lnTo>
                <a:lnTo>
                  <a:pt x="0" y="6414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551" r="-360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6366715" y="0"/>
            <a:ext cx="1921285" cy="1741603"/>
          </a:xfrm>
          <a:custGeom>
            <a:avLst/>
            <a:gdLst/>
            <a:ahLst/>
            <a:cxnLst/>
            <a:rect l="l" t="t" r="r" b="b"/>
            <a:pathLst>
              <a:path w="1921285" h="1741603">
                <a:moveTo>
                  <a:pt x="0" y="0"/>
                </a:moveTo>
                <a:lnTo>
                  <a:pt x="1921285" y="0"/>
                </a:lnTo>
                <a:lnTo>
                  <a:pt x="1921285" y="1741603"/>
                </a:lnTo>
                <a:lnTo>
                  <a:pt x="0" y="1741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5" name="Freeform 5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 rot="394120">
            <a:off x="12681541" y="6018362"/>
            <a:ext cx="6008082" cy="4347140"/>
          </a:xfrm>
          <a:custGeom>
            <a:avLst/>
            <a:gdLst/>
            <a:ahLst/>
            <a:cxnLst/>
            <a:rect l="l" t="t" r="r" b="b"/>
            <a:pathLst>
              <a:path w="6008082" h="4347140">
                <a:moveTo>
                  <a:pt x="0" y="0"/>
                </a:moveTo>
                <a:lnTo>
                  <a:pt x="6008082" y="0"/>
                </a:lnTo>
                <a:lnTo>
                  <a:pt x="6008082" y="4347140"/>
                </a:lnTo>
                <a:lnTo>
                  <a:pt x="0" y="4347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0455" t="-183299" r="-1720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566877" y="4568792"/>
            <a:ext cx="15154246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 spc="-34">
                <a:solidFill>
                  <a:srgbClr val="29475F"/>
                </a:solidFill>
                <a:latin typeface="Evolventa Bold"/>
                <a:ea typeface="Evolventa Bold"/>
                <a:cs typeface="Evolventa Bold"/>
                <a:sym typeface="Evolventa Bold"/>
              </a:rPr>
              <a:t>L’inferenza statistica</a:t>
            </a:r>
          </a:p>
        </p:txBody>
      </p:sp>
      <p:sp>
        <p:nvSpPr>
          <p:cNvPr id="10" name="Freeform 10"/>
          <p:cNvSpPr/>
          <p:nvPr/>
        </p:nvSpPr>
        <p:spPr>
          <a:xfrm>
            <a:off x="3633129" y="-1610870"/>
            <a:ext cx="9224696" cy="10993617"/>
          </a:xfrm>
          <a:custGeom>
            <a:avLst/>
            <a:gdLst/>
            <a:ahLst/>
            <a:cxnLst/>
            <a:rect l="l" t="t" r="r" b="b"/>
            <a:pathLst>
              <a:path w="9224696" h="10993617">
                <a:moveTo>
                  <a:pt x="0" y="0"/>
                </a:moveTo>
                <a:lnTo>
                  <a:pt x="9224696" y="0"/>
                </a:lnTo>
                <a:lnTo>
                  <a:pt x="9224696" y="10993617"/>
                </a:lnTo>
                <a:lnTo>
                  <a:pt x="0" y="109936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05" r="-68870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0" y="-7618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534604"/>
            <a:ext cx="1515424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40"/>
              </a:lnSpc>
            </a:pPr>
            <a:r>
              <a:rPr lang="en-US" sz="6700" b="1" spc="62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Variabili</a:t>
            </a:r>
            <a:r>
              <a:rPr lang="en-US" sz="6700" b="1" spc="62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in HRI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73200" y="3752231"/>
            <a:ext cx="2209832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Pensieri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89039" y="4604934"/>
            <a:ext cx="2890282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Morfologia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1026" name="Picture 2" descr="Summary-Human-Robot Handover | CARIS">
            <a:extLst>
              <a:ext uri="{FF2B5EF4-FFF2-40B4-BE49-F238E27FC236}">
                <a16:creationId xmlns:a16="http://schemas.microsoft.com/office/drawing/2014/main" id="{61DA0953-9F0F-E07A-F84D-64B6D5553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33" y="2474061"/>
            <a:ext cx="7656009" cy="574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B4BA93D2-05A6-9F9F-BB36-5B8FBAA9AD62}"/>
              </a:ext>
            </a:extLst>
          </p:cNvPr>
          <p:cNvSpPr txBox="1"/>
          <p:nvPr/>
        </p:nvSpPr>
        <p:spPr>
          <a:xfrm>
            <a:off x="14173200" y="5232232"/>
            <a:ext cx="2312032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Emozioni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F12029F-98DC-8FD8-AFDF-077F2D5B96F7}"/>
              </a:ext>
            </a:extLst>
          </p:cNvPr>
          <p:cNvSpPr txBox="1"/>
          <p:nvPr/>
        </p:nvSpPr>
        <p:spPr>
          <a:xfrm>
            <a:off x="14173200" y="6717676"/>
            <a:ext cx="3231600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Comportamenti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5E63AF5D-5351-E0BF-72F3-BA48FC9FD297}"/>
              </a:ext>
            </a:extLst>
          </p:cNvPr>
          <p:cNvSpPr txBox="1"/>
          <p:nvPr/>
        </p:nvSpPr>
        <p:spPr>
          <a:xfrm>
            <a:off x="381000" y="6321054"/>
            <a:ext cx="3293782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Comportamento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B3C79361-7DDE-886B-7172-679C6CC84D93}"/>
              </a:ext>
            </a:extLst>
          </p:cNvPr>
          <p:cNvSpPr/>
          <p:nvPr/>
        </p:nvSpPr>
        <p:spPr>
          <a:xfrm rot="12148254">
            <a:off x="3404961" y="491191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3EF465B8-8295-0F52-F3EF-2D8F2F8A4D0A}"/>
              </a:ext>
            </a:extLst>
          </p:cNvPr>
          <p:cNvSpPr/>
          <p:nvPr/>
        </p:nvSpPr>
        <p:spPr>
          <a:xfrm rot="9569517">
            <a:off x="3547335" y="636632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2317B7B9-033E-BBB1-4B24-EFE822E546C3}"/>
              </a:ext>
            </a:extLst>
          </p:cNvPr>
          <p:cNvSpPr/>
          <p:nvPr/>
        </p:nvSpPr>
        <p:spPr>
          <a:xfrm>
            <a:off x="13082753" y="393532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Freccia a destra 17">
            <a:extLst>
              <a:ext uri="{FF2B5EF4-FFF2-40B4-BE49-F238E27FC236}">
                <a16:creationId xmlns:a16="http://schemas.microsoft.com/office/drawing/2014/main" id="{9BF35FFC-1410-AADF-A221-E10F9D2B787B}"/>
              </a:ext>
            </a:extLst>
          </p:cNvPr>
          <p:cNvSpPr/>
          <p:nvPr/>
        </p:nvSpPr>
        <p:spPr>
          <a:xfrm>
            <a:off x="13082753" y="539886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4E885CA7-26EC-0E8A-8835-FA43E8DB867F}"/>
              </a:ext>
            </a:extLst>
          </p:cNvPr>
          <p:cNvSpPr/>
          <p:nvPr/>
        </p:nvSpPr>
        <p:spPr>
          <a:xfrm>
            <a:off x="13082753" y="686240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58D74CA-F6F0-3CFD-1469-F805B7AC1D31}"/>
              </a:ext>
            </a:extLst>
          </p:cNvPr>
          <p:cNvSpPr/>
          <p:nvPr/>
        </p:nvSpPr>
        <p:spPr>
          <a:xfrm>
            <a:off x="14401800" y="8387466"/>
            <a:ext cx="231203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57" dirty="0" err="1">
                <a:solidFill>
                  <a:schemeClr val="bg1"/>
                </a:solidFill>
                <a:latin typeface="Arimo Bold"/>
                <a:ea typeface="Arimo Bold"/>
                <a:cs typeface="Arimo Bold"/>
                <a:sym typeface="Arimo Bold"/>
              </a:rPr>
              <a:t>Effetto</a:t>
            </a:r>
            <a:endParaRPr lang="en-US" sz="3600" b="1" spc="-57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A01E1CE-5A1B-D6E5-1431-B88EB0094ABC}"/>
              </a:ext>
            </a:extLst>
          </p:cNvPr>
          <p:cNvSpPr/>
          <p:nvPr/>
        </p:nvSpPr>
        <p:spPr>
          <a:xfrm>
            <a:off x="1293008" y="8440113"/>
            <a:ext cx="2312032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spc="-57" dirty="0">
                <a:solidFill>
                  <a:schemeClr val="bg1"/>
                </a:solidFill>
                <a:latin typeface="Arimo Bold"/>
                <a:ea typeface="Arimo Bold"/>
                <a:cs typeface="Arimo Bold"/>
                <a:sym typeface="Arimo Bold"/>
              </a:rPr>
              <a:t>Causa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B66DC7F8-A8E9-E8B1-A3A5-2E7827F2DD42}"/>
              </a:ext>
            </a:extLst>
          </p:cNvPr>
          <p:cNvSpPr txBox="1"/>
          <p:nvPr/>
        </p:nvSpPr>
        <p:spPr>
          <a:xfrm>
            <a:off x="359081" y="9301866"/>
            <a:ext cx="4240261" cy="651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Variabile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indipendente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605826EE-4F81-767C-EF8C-F80C612ED657}"/>
              </a:ext>
            </a:extLst>
          </p:cNvPr>
          <p:cNvSpPr txBox="1"/>
          <p:nvPr/>
        </p:nvSpPr>
        <p:spPr>
          <a:xfrm>
            <a:off x="13710431" y="9301866"/>
            <a:ext cx="8586463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Variabile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dipendente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5CA49-0B10-0614-A6FA-E5D1FF812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4093C19-C9F9-E0E8-965C-36FCFED29C6A}"/>
              </a:ext>
            </a:extLst>
          </p:cNvPr>
          <p:cNvSpPr/>
          <p:nvPr/>
        </p:nvSpPr>
        <p:spPr>
          <a:xfrm>
            <a:off x="16533990" y="-7618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E5B447A-E841-4B40-8685-A61F373F9D28}"/>
              </a:ext>
            </a:extLst>
          </p:cNvPr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6E1043E-C492-8D17-FFB0-60624D728532}"/>
                </a:ext>
              </a:extLst>
            </p:cNvPr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E10B1C-0903-C9E5-738E-CC3D0DB71296}"/>
              </a:ext>
            </a:extLst>
          </p:cNvPr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F249F98-72F0-4CEA-2CEB-A1E228EABF25}"/>
              </a:ext>
            </a:extLst>
          </p:cNvPr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D4AFE7-04D9-6733-2461-66F2E2396CD0}"/>
              </a:ext>
            </a:extLst>
          </p:cNvPr>
          <p:cNvSpPr txBox="1"/>
          <p:nvPr/>
        </p:nvSpPr>
        <p:spPr>
          <a:xfrm>
            <a:off x="3022261" y="534604"/>
            <a:ext cx="1515424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040"/>
              </a:lnSpc>
            </a:pPr>
            <a:r>
              <a:rPr lang="en-US" sz="6700" b="1" spc="62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</a:t>
            </a:r>
            <a:r>
              <a:rPr lang="en-US" sz="6700" b="1" spc="62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manipolazione</a:t>
            </a:r>
            <a:r>
              <a:rPr lang="en-US" sz="6700" b="1" spc="62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6700" b="1" spc="62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sperimentale</a:t>
            </a:r>
            <a:endParaRPr lang="en-US" sz="6700" b="1" spc="62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8912F14-E082-A1D6-5DEF-7EA39B58A48A}"/>
              </a:ext>
            </a:extLst>
          </p:cNvPr>
          <p:cNvSpPr txBox="1"/>
          <p:nvPr/>
        </p:nvSpPr>
        <p:spPr>
          <a:xfrm>
            <a:off x="1066800" y="2379106"/>
            <a:ext cx="13291652" cy="139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Isolare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l’effetto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della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variabile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indipendente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57200" lvl="0" indent="-457200" algn="l">
              <a:lnSpc>
                <a:spcPts val="576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Separare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almeno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due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condizioni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sperimentale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e di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controllo</a:t>
            </a:r>
            <a:endParaRPr lang="en-US" sz="3200" b="1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29E0771F-BB46-B107-AB0B-266D5B3B6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4039652"/>
            <a:ext cx="8915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8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I test statistici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966" y="2816516"/>
            <a:ext cx="8053063" cy="21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 test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statistici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ci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permettono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di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concludere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se un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effetto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osservato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è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dovuto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al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caso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o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rappresenta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un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effetto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reale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5637" y="5722589"/>
            <a:ext cx="8586463" cy="288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 algn="l">
              <a:lnSpc>
                <a:spcPts val="576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La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differenza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tra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 le due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condizioni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 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è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 Bold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sufficientemente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grande da farci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pensare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che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sia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dovuta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al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comportamento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del robot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piuttosto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che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 al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caso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  <a:sym typeface="Arimo"/>
              </a:rPr>
              <a:t>?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81721EFF-3828-F2F9-8A84-1282207C3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107" y="2750789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formulazione delle ipotesi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2202" y="3009900"/>
            <a:ext cx="8586463" cy="5857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Ipotesi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nulla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(H0): 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Non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esistono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differenze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gruppi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il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campione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e la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popolazione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57200" indent="-457200" algn="l">
              <a:lnSpc>
                <a:spcPts val="5760"/>
              </a:lnSpc>
              <a:buFont typeface="Wingdings" panose="05000000000000000000" pitchFamily="2" charset="2"/>
              <a:buChar char="§"/>
            </a:pPr>
            <a:r>
              <a:rPr lang="en-US" sz="28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Esempio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confronto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gruppi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): non ci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sono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differenze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nella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piacevolezza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percepita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due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gruppi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</a:p>
          <a:p>
            <a:pPr algn="l">
              <a:lnSpc>
                <a:spcPts val="5760"/>
              </a:lnSpc>
            </a:pPr>
            <a:endParaRPr lang="en-US" sz="3200" spc="-54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760"/>
              </a:lnSpc>
            </a:pP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La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verifica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delle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ipotesi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consiste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sempre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nel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rifiuto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o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nell’accettazione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dell’ipotesi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nulla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>
              <a:lnSpc>
                <a:spcPts val="5760"/>
              </a:lnSpc>
            </a:pPr>
            <a:endParaRPr lang="en-US" sz="3200" b="1" spc="-54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7FFB10F-5D03-8CBE-1EA4-C3C0ADDDB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1107" y="2750789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formulazione delle ipotesi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6010" y="2610527"/>
            <a:ext cx="8053063" cy="6589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Ipotesi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alternativa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(H1):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Esistono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differenze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gruppi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il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campione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e la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popolazione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5760"/>
              </a:lnSpc>
            </a:pPr>
            <a:endParaRPr lang="en-US" sz="3200" spc="-54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760"/>
              </a:lnSpc>
            </a:pPr>
            <a:r>
              <a:rPr lang="en-US" sz="2800" u="sng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Bidirezionale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5760"/>
              </a:lnSpc>
            </a:pP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Non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facciamo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ipotesi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sulla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direzione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della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differenza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potrebbe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essere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maggiore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minore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  <a:p>
            <a:pPr algn="l">
              <a:lnSpc>
                <a:spcPts val="5760"/>
              </a:lnSpc>
            </a:pPr>
            <a:r>
              <a:rPr lang="en-US" sz="2800" u="sng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Monodirezionale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>
              <a:lnSpc>
                <a:spcPts val="5760"/>
              </a:lnSpc>
            </a:pP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Ipotizziamo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relazione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maggioranza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minoranza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8DAB553-C539-9B4D-FB82-41BF15A76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157" y="2933700"/>
            <a:ext cx="89154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E6064-7A3E-2FD8-B1C5-0F5CF13C4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285EC1-8382-A648-54BF-EA10BF8A4FCB}"/>
              </a:ext>
            </a:extLst>
          </p:cNvPr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D6100CB-87E9-8712-9FCD-AB18210D8D9E}"/>
              </a:ext>
            </a:extLst>
          </p:cNvPr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E19999-D974-3128-317A-B978A27146E5}"/>
                </a:ext>
              </a:extLst>
            </p:cNvPr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B25F5DC-0DAE-89D2-B3FE-C46BBAC197D7}"/>
              </a:ext>
            </a:extLst>
          </p:cNvPr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2BA5BD3-52C2-8133-94F9-44F43FDDE936}"/>
              </a:ext>
            </a:extLst>
          </p:cNvPr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D46B12-1E51-D345-DB51-4A9E278A4B23}"/>
              </a:ext>
            </a:extLst>
          </p:cNvPr>
          <p:cNvSpPr txBox="1"/>
          <p:nvPr/>
        </p:nvSpPr>
        <p:spPr>
          <a:xfrm>
            <a:off x="533400" y="5143500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Le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distribuzioni</a:t>
            </a: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di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probabilità</a:t>
            </a:r>
            <a:endParaRPr lang="en-US" sz="7200" b="1" spc="67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  <p:extLst>
      <p:ext uri="{BB962C8B-B14F-4D97-AF65-F5344CB8AC3E}">
        <p14:creationId xmlns:p14="http://schemas.microsoft.com/office/powerpoint/2010/main" val="299723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V.C. e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Distribuzioni</a:t>
            </a: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di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probabilità</a:t>
            </a:r>
            <a:endParaRPr lang="en-US" sz="7200" b="1" spc="67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0600" y="6662245"/>
            <a:ext cx="7620000" cy="21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Una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distribuzione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di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probabilità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associa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tutti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possibili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esiti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della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v.c.</a:t>
            </a:r>
            <a:r>
              <a:rPr lang="en-US" sz="3200" b="1" u="none" strike="noStrike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alle </a:t>
            </a:r>
            <a:r>
              <a:rPr lang="en-US" sz="3200" b="1" u="none" strike="noStrike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pro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babilità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che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hanno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di </a:t>
            </a:r>
            <a:r>
              <a:rPr lang="en-US" sz="3200" b="1" spc="-57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verificarsi</a:t>
            </a:r>
            <a:r>
              <a:rPr lang="en-US" sz="3200" b="1" spc="-57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  <a:endParaRPr lang="en-US" sz="3200" b="1" u="none" strike="noStrike" spc="-57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858639"/>
            <a:ext cx="7386082" cy="2882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60"/>
              </a:lnSpc>
              <a:spcBef>
                <a:spcPct val="0"/>
              </a:spcBef>
            </a:pP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na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casuale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rappresenta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un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fenomeno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incerto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imprevedibile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e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della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v.c.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sono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gli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esiti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questa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può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assumere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in un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esperimento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32006F17-0C7A-3F1D-E863-DDBBF85C4AD1}"/>
              </a:ext>
            </a:extLst>
          </p:cNvPr>
          <p:cNvSpPr/>
          <p:nvPr/>
        </p:nvSpPr>
        <p:spPr>
          <a:xfrm>
            <a:off x="8705764" y="2646468"/>
            <a:ext cx="9565907" cy="6798129"/>
          </a:xfrm>
          <a:custGeom>
            <a:avLst/>
            <a:gdLst/>
            <a:ahLst/>
            <a:cxnLst/>
            <a:rect l="l" t="t" r="r" b="b"/>
            <a:pathLst>
              <a:path w="12594538" h="8139220">
                <a:moveTo>
                  <a:pt x="0" y="0"/>
                </a:moveTo>
                <a:lnTo>
                  <a:pt x="12594538" y="0"/>
                </a:lnTo>
                <a:lnTo>
                  <a:pt x="12594538" y="8139220"/>
                </a:lnTo>
                <a:lnTo>
                  <a:pt x="0" y="81392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200900" y="2879674"/>
            <a:ext cx="10975607" cy="6948922"/>
          </a:xfrm>
          <a:custGeom>
            <a:avLst/>
            <a:gdLst/>
            <a:ahLst/>
            <a:cxnLst/>
            <a:rect l="l" t="t" r="r" b="b"/>
            <a:pathLst>
              <a:path w="12968505" h="8186369">
                <a:moveTo>
                  <a:pt x="0" y="0"/>
                </a:moveTo>
                <a:lnTo>
                  <a:pt x="12968504" y="0"/>
                </a:lnTo>
                <a:lnTo>
                  <a:pt x="12968504" y="8186369"/>
                </a:lnTo>
                <a:lnTo>
                  <a:pt x="0" y="81863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normale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0217009-3FFA-BF86-7CD7-5445508E8115}"/>
              </a:ext>
            </a:extLst>
          </p:cNvPr>
          <p:cNvSpPr txBox="1"/>
          <p:nvPr/>
        </p:nvSpPr>
        <p:spPr>
          <a:xfrm>
            <a:off x="495300" y="2890446"/>
            <a:ext cx="6477000" cy="296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5760"/>
              </a:lnSpc>
              <a:buFont typeface="Wingdings" panose="05000000000000000000" pitchFamily="2" charset="2"/>
              <a:buChar char="§"/>
            </a:pP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tendono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a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concentrarsi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intorno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a un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medio. </a:t>
            </a:r>
          </a:p>
          <a:p>
            <a:pPr marL="457200" indent="-457200" algn="l">
              <a:lnSpc>
                <a:spcPts val="5760"/>
              </a:lnSpc>
              <a:buFont typeface="Wingdings" panose="05000000000000000000" pitchFamily="2" charset="2"/>
              <a:buChar char="§"/>
            </a:pP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curva è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perfettamente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simmetrica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rispetto alla media.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24D30FE-8595-14DA-7B24-93D933EEFCEC}"/>
              </a:ext>
            </a:extLst>
          </p:cNvPr>
          <p:cNvSpPr txBox="1"/>
          <p:nvPr/>
        </p:nvSpPr>
        <p:spPr>
          <a:xfrm>
            <a:off x="489857" y="6275883"/>
            <a:ext cx="6477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kumimoji="0" lang="en-US" sz="2800" b="0" i="0" u="none" strike="noStrike" kern="1200" cap="none" spc="-54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kumimoji="0" lang="en-US" sz="2800" b="0" i="0" u="none" strike="noStrike" kern="1200" cap="none" spc="-54" normalizeH="0" baseline="0" noProof="0" dirty="0" err="1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deviazione</a:t>
            </a:r>
            <a:r>
              <a:rPr kumimoji="0" lang="en-US" sz="2800" b="0" i="0" u="none" strike="noStrike" kern="1200" cap="none" spc="-54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standard </a:t>
            </a:r>
            <a:r>
              <a:rPr kumimoji="0" lang="en-US" sz="2800" b="0" i="0" u="none" strike="noStrike" kern="1200" cap="none" spc="-54" normalizeH="0" baseline="0" noProof="0" dirty="0" err="1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determina</a:t>
            </a:r>
            <a:r>
              <a:rPr kumimoji="0" lang="en-US" sz="2800" b="0" i="0" u="none" strike="noStrike" kern="1200" cap="none" spc="-54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kumimoji="0" lang="en-US" sz="2800" b="0" i="0" u="none" strike="noStrike" kern="1200" cap="none" spc="-54" normalizeH="0" baseline="0" noProof="0" dirty="0" err="1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larghezza</a:t>
            </a:r>
            <a:r>
              <a:rPr kumimoji="0" lang="en-US" sz="2800" b="0" i="0" u="none" strike="noStrike" kern="1200" cap="none" spc="-54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Arimo"/>
                <a:ea typeface="Arimo"/>
                <a:cs typeface="Arimo"/>
                <a:sym typeface="Arimo"/>
              </a:rPr>
              <a:t> della curva.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d.s.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la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radice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quadrata della </a:t>
            </a:r>
            <a:r>
              <a:rPr lang="en-US" sz="28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varianza</a:t>
            </a:r>
            <a:r>
              <a:rPr lang="en-US" sz="28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lang="it-IT" sz="1600" dirty="0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2351D92F-8D4E-3348-4669-956F9D562A94}"/>
              </a:ext>
            </a:extLst>
          </p:cNvPr>
          <p:cNvSpPr/>
          <p:nvPr/>
        </p:nvSpPr>
        <p:spPr>
          <a:xfrm>
            <a:off x="1752599" y="8398517"/>
            <a:ext cx="4261757" cy="1745896"/>
          </a:xfrm>
          <a:custGeom>
            <a:avLst/>
            <a:gdLst/>
            <a:ahLst/>
            <a:cxnLst/>
            <a:rect l="l" t="t" r="r" b="b"/>
            <a:pathLst>
              <a:path w="9804138" h="3804591">
                <a:moveTo>
                  <a:pt x="0" y="0"/>
                </a:moveTo>
                <a:lnTo>
                  <a:pt x="9804138" y="0"/>
                </a:lnTo>
                <a:lnTo>
                  <a:pt x="9804138" y="3804591"/>
                </a:lnTo>
                <a:lnTo>
                  <a:pt x="0" y="38045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24518" y="5011616"/>
            <a:ext cx="4897592" cy="2301868"/>
          </a:xfrm>
          <a:custGeom>
            <a:avLst/>
            <a:gdLst/>
            <a:ahLst/>
            <a:cxnLst/>
            <a:rect l="l" t="t" r="r" b="b"/>
            <a:pathLst>
              <a:path w="4897592" h="2301868">
                <a:moveTo>
                  <a:pt x="0" y="0"/>
                </a:moveTo>
                <a:lnTo>
                  <a:pt x="4897591" y="0"/>
                </a:lnTo>
                <a:lnTo>
                  <a:pt x="4897591" y="2301868"/>
                </a:lnTo>
                <a:lnTo>
                  <a:pt x="0" y="2301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29854"/>
            <a:ext cx="15154246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sz="6100" b="1" spc="5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normale standardizzata (z)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329" y="2748811"/>
            <a:ext cx="6928882" cy="21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normale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in cui la media è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uguale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a 0 e la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deviazione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standard è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uguale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a 1.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8329" y="7437434"/>
            <a:ext cx="6319282" cy="21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576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Permette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confrontare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hanno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scale e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unità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misura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diverse.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9FF5B43-37B2-3184-3FB1-F0998446ACBB}"/>
              </a:ext>
            </a:extLst>
          </p:cNvPr>
          <p:cNvSpPr/>
          <p:nvPr/>
        </p:nvSpPr>
        <p:spPr>
          <a:xfrm>
            <a:off x="7516587" y="2701487"/>
            <a:ext cx="10659920" cy="6874802"/>
          </a:xfrm>
          <a:custGeom>
            <a:avLst/>
            <a:gdLst/>
            <a:ahLst/>
            <a:cxnLst/>
            <a:rect l="l" t="t" r="r" b="b"/>
            <a:pathLst>
              <a:path w="12440645" h="7946462">
                <a:moveTo>
                  <a:pt x="0" y="0"/>
                </a:moveTo>
                <a:lnTo>
                  <a:pt x="12440645" y="0"/>
                </a:lnTo>
                <a:lnTo>
                  <a:pt x="12440645" y="7946462"/>
                </a:lnTo>
                <a:lnTo>
                  <a:pt x="0" y="79464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355684" y="4129560"/>
            <a:ext cx="4241067" cy="2721682"/>
          </a:xfrm>
          <a:custGeom>
            <a:avLst/>
            <a:gdLst/>
            <a:ahLst/>
            <a:cxnLst/>
            <a:rect l="l" t="t" r="r" b="b"/>
            <a:pathLst>
              <a:path w="4241067" h="2721682">
                <a:moveTo>
                  <a:pt x="0" y="0"/>
                </a:moveTo>
                <a:lnTo>
                  <a:pt x="4241068" y="0"/>
                </a:lnTo>
                <a:lnTo>
                  <a:pt x="4241068" y="2721682"/>
                </a:lnTo>
                <a:lnTo>
                  <a:pt x="0" y="2721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29854"/>
            <a:ext cx="15154246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sz="6100" b="1" spc="5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chi quadrato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0127" y="2287425"/>
            <a:ext cx="15837143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chi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quadrato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la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probabilità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della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somma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quadrati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casuali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indipendenti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distribuiscono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come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normale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standardizzata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2282" y="7194142"/>
            <a:ext cx="17705718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i="1" u="none" strike="noStrike" spc="-54">
                <a:solidFill>
                  <a:srgbClr val="051D40"/>
                </a:solidFill>
                <a:latin typeface="Arimo Italics"/>
                <a:ea typeface="Arimo Italics"/>
                <a:cs typeface="Arimo Italics"/>
                <a:sym typeface="Arimo Italics"/>
              </a:rPr>
              <a:t>k</a:t>
            </a: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indica i</a:t>
            </a:r>
            <a:r>
              <a:rPr lang="en-US" sz="3200" b="1" u="none" strike="noStrike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gradi di libertà (gdl o df)</a:t>
            </a: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200" u="sng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quanti valori possono essere scelti liberamente</a:t>
            </a: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mentre gli altri sono determinati dalle condizioni o dalle restrizioni imposte.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0127" y="8950551"/>
            <a:ext cx="1030938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La distribuzione chi quadrato non può avere valori negativi.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449030" y="1945432"/>
            <a:ext cx="12957776" cy="8341568"/>
          </a:xfrm>
          <a:custGeom>
            <a:avLst/>
            <a:gdLst/>
            <a:ahLst/>
            <a:cxnLst/>
            <a:rect l="l" t="t" r="r" b="b"/>
            <a:pathLst>
              <a:path w="12957776" h="8341568">
                <a:moveTo>
                  <a:pt x="0" y="0"/>
                </a:moveTo>
                <a:lnTo>
                  <a:pt x="12957776" y="0"/>
                </a:lnTo>
                <a:lnTo>
                  <a:pt x="12957776" y="8341568"/>
                </a:lnTo>
                <a:lnTo>
                  <a:pt x="0" y="8341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29854"/>
            <a:ext cx="15154246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sz="6100" b="1" spc="5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chi quadrato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102044" y="2424464"/>
            <a:ext cx="12074463" cy="7803122"/>
          </a:xfrm>
          <a:custGeom>
            <a:avLst/>
            <a:gdLst/>
            <a:ahLst/>
            <a:cxnLst/>
            <a:rect l="l" t="t" r="r" b="b"/>
            <a:pathLst>
              <a:path w="12074463" h="7803122">
                <a:moveTo>
                  <a:pt x="0" y="0"/>
                </a:moveTo>
                <a:lnTo>
                  <a:pt x="12074463" y="0"/>
                </a:lnTo>
                <a:lnTo>
                  <a:pt x="12074463" y="7803122"/>
                </a:lnTo>
                <a:lnTo>
                  <a:pt x="0" y="78031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29854"/>
            <a:ext cx="15154246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320"/>
              </a:lnSpc>
            </a:pPr>
            <a:r>
              <a:rPr lang="en-US" sz="6100" b="1" spc="5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chi quadrato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057" y="3331687"/>
            <a:ext cx="5635227" cy="342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spc="29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Aumentando i gradi di libertà:</a:t>
            </a:r>
          </a:p>
          <a:p>
            <a:pPr marL="690902" lvl="1" indent="-345451" algn="l">
              <a:lnSpc>
                <a:spcPts val="3840"/>
              </a:lnSpc>
              <a:buFont typeface="Arial"/>
              <a:buChar char="•"/>
            </a:pPr>
            <a:r>
              <a:rPr lang="en-US" sz="3200" spc="29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La distribuzione si sposta verso destra.</a:t>
            </a:r>
          </a:p>
          <a:p>
            <a:pPr marL="690902" lvl="1" indent="-345451" algn="l">
              <a:lnSpc>
                <a:spcPts val="3840"/>
              </a:lnSpc>
              <a:buFont typeface="Arial"/>
              <a:buChar char="•"/>
            </a:pPr>
            <a:r>
              <a:rPr lang="en-US" sz="3200" spc="29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La curva diventa più simmetrica e il picco si abbassa, ma la "coda" si allunga.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057" y="7160737"/>
            <a:ext cx="5881987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u="none" strike="noStrike" spc="29">
                <a:solidFill>
                  <a:srgbClr val="29475F"/>
                </a:solidFill>
                <a:latin typeface="Arimo"/>
                <a:ea typeface="Arimo"/>
                <a:cs typeface="Arimo"/>
                <a:sym typeface="Arimo"/>
              </a:rPr>
              <a:t>Per infiniti gdl, la distribuzione chi quadrato si avvicina a una distribuzione normale.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478861" y="4241994"/>
            <a:ext cx="4265254" cy="4020421"/>
          </a:xfrm>
          <a:custGeom>
            <a:avLst/>
            <a:gdLst/>
            <a:ahLst/>
            <a:cxnLst/>
            <a:rect l="l" t="t" r="r" b="b"/>
            <a:pathLst>
              <a:path w="4265254" h="4020421">
                <a:moveTo>
                  <a:pt x="0" y="0"/>
                </a:moveTo>
                <a:lnTo>
                  <a:pt x="4265254" y="0"/>
                </a:lnTo>
                <a:lnTo>
                  <a:pt x="4265254" y="4020421"/>
                </a:lnTo>
                <a:lnTo>
                  <a:pt x="0" y="40204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544129"/>
            <a:ext cx="151542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20"/>
              </a:lnSpc>
            </a:pPr>
            <a:r>
              <a:rPr lang="en-US" sz="6600" b="1" spc="6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F di Fisher-Snedecor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8481490"/>
            <a:ext cx="15830931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spc="-57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È una distribuzione asimmetrica, definita solo per valori positivi, con una coda lunga verso destra. Valgono le stesse regole della distribuzione chi-quadrato.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828484"/>
            <a:ext cx="15932369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F è la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probabilità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 </a:t>
            </a:r>
            <a:r>
              <a:rPr lang="en-US" sz="3200" b="1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rapporto</a:t>
            </a:r>
            <a:r>
              <a:rPr lang="en-US" sz="3200" b="1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b="1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due chi-</a:t>
            </a:r>
            <a:r>
              <a:rPr lang="en-US" sz="3200" b="1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quadrati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ciascuno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diviso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per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propri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gradi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libertà</a:t>
            </a:r>
            <a:r>
              <a:rPr lang="en-US" sz="3200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449030" y="1985228"/>
            <a:ext cx="12796566" cy="8301772"/>
          </a:xfrm>
          <a:custGeom>
            <a:avLst/>
            <a:gdLst/>
            <a:ahLst/>
            <a:cxnLst/>
            <a:rect l="l" t="t" r="r" b="b"/>
            <a:pathLst>
              <a:path w="12796566" h="8301772">
                <a:moveTo>
                  <a:pt x="0" y="0"/>
                </a:moveTo>
                <a:lnTo>
                  <a:pt x="12796566" y="0"/>
                </a:lnTo>
                <a:lnTo>
                  <a:pt x="12796566" y="8301772"/>
                </a:lnTo>
                <a:lnTo>
                  <a:pt x="0" y="8301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544129"/>
            <a:ext cx="151542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920"/>
              </a:lnSpc>
            </a:pPr>
            <a:r>
              <a:rPr lang="en-US" sz="6600" b="1" spc="6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F di Fisher-Snedecor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610804"/>
            <a:ext cx="151542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60"/>
              </a:lnSpc>
            </a:pPr>
            <a:r>
              <a:rPr lang="en-US" sz="6300" b="1" spc="58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t di Student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2882" y="3363731"/>
            <a:ext cx="15830931" cy="3585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distribuzione t di Student è una distribuzione di probabilità utilizzata quando:</a:t>
            </a:r>
          </a:p>
          <a:p>
            <a:pPr marL="690881" lvl="1" indent="-345440" algn="l">
              <a:lnSpc>
                <a:spcPts val="5760"/>
              </a:lnSpc>
              <a:buAutoNum type="arabicPeriod"/>
            </a:pP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dimensione del campione è piccola.</a:t>
            </a:r>
          </a:p>
          <a:p>
            <a:pPr marL="690881" lvl="1" indent="-345440" algn="l">
              <a:lnSpc>
                <a:spcPts val="5760"/>
              </a:lnSpc>
              <a:spcBef>
                <a:spcPct val="0"/>
              </a:spcBef>
              <a:buAutoNum type="arabicPeriod"/>
            </a:pPr>
            <a:r>
              <a:rPr lang="en-US" sz="3200" spc="-57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deviazione standard della popolazione (σ) non è nota, e si usa la deviazione standard del campione (s).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endParaRPr lang="en-US" sz="3200" spc="-57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2882" y="7168016"/>
            <a:ext cx="15635113" cy="213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distribuzione t è simile alla distribuzione normale standardizzata, ma ha una forma più larga e i valori estremi hanno una probabilità maggiore di verificarsi (le code pesano di più).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433203" y="4133703"/>
            <a:ext cx="4362094" cy="3085549"/>
          </a:xfrm>
          <a:custGeom>
            <a:avLst/>
            <a:gdLst/>
            <a:ahLst/>
            <a:cxnLst/>
            <a:rect l="l" t="t" r="r" b="b"/>
            <a:pathLst>
              <a:path w="4362094" h="3085549">
                <a:moveTo>
                  <a:pt x="0" y="0"/>
                </a:moveTo>
                <a:lnTo>
                  <a:pt x="4362093" y="0"/>
                </a:lnTo>
                <a:lnTo>
                  <a:pt x="4362093" y="3085549"/>
                </a:lnTo>
                <a:lnTo>
                  <a:pt x="0" y="30855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82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10804"/>
            <a:ext cx="151542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60"/>
              </a:lnSpc>
            </a:pPr>
            <a:r>
              <a:rPr lang="en-US" sz="6300" b="1" spc="58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t di Student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1043" y="8137462"/>
            <a:ext cx="17722281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Man mano che aumenta il numero di osservazioni (n) e di conseguenza i gradi di libertà, la distribuzione t si avvicina alla normale standard.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1043" y="7143052"/>
            <a:ext cx="14533602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forma della distribuzione t dipende dai gradi di libertà, che si calcolano come </a:t>
            </a:r>
            <a:r>
              <a:rPr lang="en-US" sz="3200" b="1" u="none" strike="noStrike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n-1</a:t>
            </a: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1043" y="2586844"/>
            <a:ext cx="17259300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t è la </a:t>
            </a:r>
            <a:r>
              <a:rPr lang="en-US" sz="3200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rapporto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tra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casuale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normale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standardizzata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e la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radice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quadrata di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casuale</a:t>
            </a:r>
            <a:r>
              <a:rPr lang="en-US" sz="3200" b="1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chi </a:t>
            </a:r>
            <a:r>
              <a:rPr lang="en-US" sz="3200" b="1" u="none" strike="noStrike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quadrato</a:t>
            </a:r>
            <a:r>
              <a:rPr lang="en-US" sz="3200" u="none" strike="noStrike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634181" y="1985228"/>
            <a:ext cx="12996903" cy="8301772"/>
          </a:xfrm>
          <a:custGeom>
            <a:avLst/>
            <a:gdLst/>
            <a:ahLst/>
            <a:cxnLst/>
            <a:rect l="l" t="t" r="r" b="b"/>
            <a:pathLst>
              <a:path w="12996903" h="8301772">
                <a:moveTo>
                  <a:pt x="0" y="0"/>
                </a:moveTo>
                <a:lnTo>
                  <a:pt x="12996903" y="0"/>
                </a:lnTo>
                <a:lnTo>
                  <a:pt x="12996903" y="8301772"/>
                </a:lnTo>
                <a:lnTo>
                  <a:pt x="0" y="83017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10804"/>
            <a:ext cx="15154246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60"/>
              </a:lnSpc>
            </a:pPr>
            <a:r>
              <a:rPr lang="en-US" sz="6300" b="1" spc="58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Distribuzione t di Student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Valore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calcolato</a:t>
            </a: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e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  <a:r>
              <a:rPr lang="en-US" sz="7200" b="1" spc="67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critico</a:t>
            </a:r>
            <a:endParaRPr lang="en-US" sz="7200" b="1" spc="67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620436"/>
            <a:ext cx="16517708" cy="734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Per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decidere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se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accettare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o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rifiutare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l’ipotesi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nulla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è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necessario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ottenere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statistica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calcolata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(o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test) e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confrontarla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con un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criterio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prestabilito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 </a:t>
            </a:r>
          </a:p>
          <a:p>
            <a:pPr algn="l">
              <a:lnSpc>
                <a:spcPts val="5760"/>
              </a:lnSpc>
            </a:pPr>
            <a:endParaRPr lang="en-US" sz="3200" spc="-54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760"/>
              </a:lnSpc>
            </a:pP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calcolata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un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derivato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dal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campione</a:t>
            </a:r>
            <a:endParaRPr lang="en-US" sz="3200" b="1" spc="-54" dirty="0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457200" indent="-457200" algn="l">
              <a:lnSpc>
                <a:spcPts val="5760"/>
              </a:lnSpc>
              <a:buFont typeface="Wingdings" panose="05000000000000000000" pitchFamily="2" charset="2"/>
              <a:buChar char="§"/>
            </a:pP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Riassume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informazioni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rilevanti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del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campione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tenendo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conto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della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variabilità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nei</a:t>
            </a:r>
            <a:r>
              <a:rPr lang="en-US" sz="3200" b="1" spc="-54" dirty="0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dati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5760"/>
              </a:lnSpc>
            </a:pPr>
            <a:endParaRPr lang="en-US" sz="3200" spc="-54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5760"/>
              </a:lnSpc>
            </a:pP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Il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criterio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un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appartiene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alla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probabilità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teorica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della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calcolata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sotto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l’ipotesi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nulla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detto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“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valore</a:t>
            </a:r>
            <a:r>
              <a:rPr lang="en-US" sz="3200" b="1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critico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”,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dipende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da: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Tipo di </a:t>
            </a:r>
            <a:r>
              <a:rPr lang="en-US" sz="3200" b="1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la quale a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sua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volta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dipende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dalla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spc="-54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test </a:t>
            </a:r>
            <a:r>
              <a:rPr lang="en-US" sz="3200" spc="-54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scelta</a:t>
            </a:r>
            <a:endParaRPr lang="en-US" sz="3200" spc="-54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Livello</a:t>
            </a:r>
            <a:r>
              <a:rPr lang="en-US" sz="3200" b="1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di </a:t>
            </a:r>
            <a:r>
              <a:rPr lang="en-US" sz="3200" b="1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significatività</a:t>
            </a:r>
            <a:r>
              <a:rPr lang="en-US" sz="3200" b="1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endParaRPr lang="en-US" sz="3200" spc="-57" dirty="0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3068" y="2443635"/>
            <a:ext cx="18689778" cy="83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3999" b="1" spc="-71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Distribuzione di probabilità sotto l’ipotesi nulla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4839" y="5599906"/>
            <a:ext cx="15830931" cy="141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Descrive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valori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possibili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che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la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 test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può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assumere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se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l'ipotesi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nulla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fosse vera.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2182" y="3496788"/>
            <a:ext cx="12674264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La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variabile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casuale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in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questo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contesto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è la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statistica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calcolata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dal test.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4839" y="4548347"/>
            <a:ext cx="10093523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È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distribuzione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teorica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definita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dalle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200" u="none" strike="noStrike" spc="-57" dirty="0" err="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proprietà</a:t>
            </a:r>
            <a:r>
              <a:rPr lang="en-US" sz="3200" u="none" strike="noStrike" spc="-57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 del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634181" y="1831132"/>
            <a:ext cx="13291650" cy="8506656"/>
          </a:xfrm>
          <a:custGeom>
            <a:avLst/>
            <a:gdLst/>
            <a:ahLst/>
            <a:cxnLst/>
            <a:rect l="l" t="t" r="r" b="b"/>
            <a:pathLst>
              <a:path w="13291650" h="8506656">
                <a:moveTo>
                  <a:pt x="0" y="0"/>
                </a:moveTo>
                <a:lnTo>
                  <a:pt x="13291650" y="0"/>
                </a:lnTo>
                <a:lnTo>
                  <a:pt x="13291650" y="8506656"/>
                </a:lnTo>
                <a:lnTo>
                  <a:pt x="0" y="8506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  <p:sp>
        <p:nvSpPr>
          <p:cNvPr id="8" name="Freeform 8"/>
          <p:cNvSpPr/>
          <p:nvPr/>
        </p:nvSpPr>
        <p:spPr>
          <a:xfrm>
            <a:off x="7579120" y="2965341"/>
            <a:ext cx="10597387" cy="6782328"/>
          </a:xfrm>
          <a:custGeom>
            <a:avLst/>
            <a:gdLst/>
            <a:ahLst/>
            <a:cxnLst/>
            <a:rect l="l" t="t" r="r" b="b"/>
            <a:pathLst>
              <a:path w="10597387" h="6782328">
                <a:moveTo>
                  <a:pt x="0" y="0"/>
                </a:moveTo>
                <a:lnTo>
                  <a:pt x="10597387" y="0"/>
                </a:lnTo>
                <a:lnTo>
                  <a:pt x="10597387" y="6782328"/>
                </a:lnTo>
                <a:lnTo>
                  <a:pt x="0" y="67823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219916" y="2287425"/>
            <a:ext cx="7470697" cy="792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Sulla</a:t>
            </a: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distribuzione di probabilità della statistica calcolata sotto H0</a:t>
            </a: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sono da definire: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 zona di </a:t>
            </a: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accettazione, </a:t>
            </a:r>
            <a:r>
              <a:rPr lang="en-US" sz="3200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in cui ricadono valori a cui è associata una probabilità più alta di verificarsi sotto H0, per cui non possiamo rifiutare H0.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spc="-57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una zona di</a:t>
            </a:r>
            <a:r>
              <a:rPr lang="en-US" sz="3200" b="1" spc="-57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 rifiuto</a:t>
            </a:r>
            <a:r>
              <a:rPr lang="en-US" sz="3200" spc="-57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, in cui ricadono valori che è troppo improbabile che si verifichino sotto H0, per cui rifiutiamo H0.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5532600" y="2201700"/>
            <a:ext cx="12870724" cy="8237263"/>
          </a:xfrm>
          <a:custGeom>
            <a:avLst/>
            <a:gdLst/>
            <a:ahLst/>
            <a:cxnLst/>
            <a:rect l="l" t="t" r="r" b="b"/>
            <a:pathLst>
              <a:path w="12870724" h="8237263">
                <a:moveTo>
                  <a:pt x="0" y="0"/>
                </a:moveTo>
                <a:lnTo>
                  <a:pt x="12870724" y="0"/>
                </a:lnTo>
                <a:lnTo>
                  <a:pt x="12870724" y="8237263"/>
                </a:lnTo>
                <a:lnTo>
                  <a:pt x="0" y="82372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8306" y="2251252"/>
            <a:ext cx="5224295" cy="792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4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L’area sotto la curva  nella zona di rifiuto è α (o livello di significatività).</a:t>
            </a:r>
          </a:p>
          <a:p>
            <a:pPr algn="l">
              <a:lnSpc>
                <a:spcPts val="5760"/>
              </a:lnSpc>
              <a:spcBef>
                <a:spcPct val="0"/>
              </a:spcBef>
            </a:pPr>
            <a:r>
              <a:rPr lang="en-US" sz="3200" u="none" strike="noStrike" spc="-57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Il valore sull’asse x che divide la zona di accettazione da quella di rifiuto è il valore critico. Se la statistica test supera il valore critico, rifiutiamo H0 e il nostro risultato è statisticamente significativo.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157625" y="2201700"/>
            <a:ext cx="12130384" cy="7748283"/>
          </a:xfrm>
          <a:custGeom>
            <a:avLst/>
            <a:gdLst/>
            <a:ahLst/>
            <a:cxnLst/>
            <a:rect l="l" t="t" r="r" b="b"/>
            <a:pathLst>
              <a:path w="12130384" h="7748283">
                <a:moveTo>
                  <a:pt x="0" y="0"/>
                </a:moveTo>
                <a:lnTo>
                  <a:pt x="12130384" y="0"/>
                </a:lnTo>
                <a:lnTo>
                  <a:pt x="12130384" y="7748283"/>
                </a:lnTo>
                <a:lnTo>
                  <a:pt x="0" y="7748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87004"/>
            <a:ext cx="1515424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40"/>
              </a:lnSpc>
            </a:pPr>
            <a:r>
              <a:rPr lang="en-US" sz="5700" b="1" spc="53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monodirezionale o test a una coda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399" y="2306475"/>
            <a:ext cx="5467735" cy="544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spc="-53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000" u="none" strike="noStrike" spc="-53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 applica quando l'ipotesi alternativa (H1​) specifica una direzione, cioè ipotizza che una caratteristica (ad es., la media) sia maggiore o minore in un gruppo rispetto all’altro o che quella del campione sia maggiore o minore di un valore atteso.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3399" y="7831623"/>
            <a:ext cx="6921687" cy="2019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b="1" u="none" strike="noStrike" spc="-53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Si considera solo una coda della distribuzione, corrispondente alla direzione ipotizzata in H1​.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6554789" y="2427550"/>
            <a:ext cx="11621718" cy="7423372"/>
          </a:xfrm>
          <a:custGeom>
            <a:avLst/>
            <a:gdLst/>
            <a:ahLst/>
            <a:cxnLst/>
            <a:rect l="l" t="t" r="r" b="b"/>
            <a:pathLst>
              <a:path w="11621718" h="7423372">
                <a:moveTo>
                  <a:pt x="0" y="0"/>
                </a:moveTo>
                <a:lnTo>
                  <a:pt x="11621718" y="0"/>
                </a:lnTo>
                <a:lnTo>
                  <a:pt x="11621718" y="7423373"/>
                </a:lnTo>
                <a:lnTo>
                  <a:pt x="0" y="7423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687004"/>
            <a:ext cx="1515424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40"/>
              </a:lnSpc>
            </a:pPr>
            <a:r>
              <a:rPr lang="en-US" sz="5700" b="1" spc="53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bidirezionale o test a due code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3399" y="2911637"/>
            <a:ext cx="5492825" cy="407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spc="-53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Si applica quando l'ipotesi alternativa (H1) non specifica una direzione, ma si limita a ipotizzare una differenza tra le caratteristiche di due gruppi (o tra campione e popolazione).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3399" y="7530540"/>
            <a:ext cx="5867895" cy="2019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b="1" spc="-53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La zona di rifiuto è divisa equamente in due code (α/2=0.025 per lato).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45804" y="2487450"/>
            <a:ext cx="16796393" cy="4010139"/>
          </a:xfrm>
          <a:custGeom>
            <a:avLst/>
            <a:gdLst/>
            <a:ahLst/>
            <a:cxnLst/>
            <a:rect l="l" t="t" r="r" b="b"/>
            <a:pathLst>
              <a:path w="16796393" h="4010139">
                <a:moveTo>
                  <a:pt x="0" y="0"/>
                </a:moveTo>
                <a:lnTo>
                  <a:pt x="16796392" y="0"/>
                </a:lnTo>
                <a:lnTo>
                  <a:pt x="16796392" y="4010139"/>
                </a:lnTo>
                <a:lnTo>
                  <a:pt x="0" y="40101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459489"/>
            <a:ext cx="14463541" cy="240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60"/>
              </a:lnSpc>
              <a:spcBef>
                <a:spcPct val="0"/>
              </a:spcBef>
            </a:pPr>
            <a:r>
              <a:rPr lang="en-US" sz="2700" b="1" u="none" strike="noStrike" spc="-48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Fattori che aumentano β:</a:t>
            </a:r>
          </a:p>
          <a:p>
            <a:pPr marL="582933" lvl="1" indent="-291467" algn="l">
              <a:lnSpc>
                <a:spcPts val="4860"/>
              </a:lnSpc>
              <a:buFont typeface="Arial"/>
              <a:buChar char="•"/>
            </a:pPr>
            <a:r>
              <a:rPr lang="en-US" sz="2700" u="none" strike="noStrike" spc="-48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Campioni piccoli</a:t>
            </a:r>
          </a:p>
          <a:p>
            <a:pPr marL="582933" lvl="1" indent="-291467" algn="l">
              <a:lnSpc>
                <a:spcPts val="4860"/>
              </a:lnSpc>
              <a:buFont typeface="Arial"/>
              <a:buChar char="•"/>
            </a:pPr>
            <a:r>
              <a:rPr lang="en-US" sz="2700" u="none" strike="noStrike" spc="-48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Ridurre α</a:t>
            </a:r>
          </a:p>
          <a:p>
            <a:pPr marL="582933" lvl="1" indent="-291467" algn="l">
              <a:lnSpc>
                <a:spcPts val="4860"/>
              </a:lnSpc>
              <a:buFont typeface="Arial"/>
              <a:buChar char="•"/>
            </a:pPr>
            <a:r>
              <a:rPr lang="en-US" sz="2700" u="none" strike="noStrike" spc="-48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Campioni con alta variabilità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" y="9334500"/>
            <a:ext cx="15309481" cy="62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  <a:spcBef>
                <a:spcPct val="0"/>
              </a:spcBef>
            </a:pPr>
            <a:r>
              <a:rPr lang="en-US" sz="4000" b="1" spc="3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Storicamente</a:t>
            </a:r>
            <a:r>
              <a:rPr lang="en-US" sz="4000" b="1" spc="3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è </a:t>
            </a:r>
            <a:r>
              <a:rPr lang="en-US" sz="4000" b="1" spc="3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stato</a:t>
            </a:r>
            <a:r>
              <a:rPr lang="en-US" sz="4000" b="1" spc="3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000" b="1" spc="3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trovato</a:t>
            </a:r>
            <a:r>
              <a:rPr lang="en-US" sz="4000" b="1" spc="3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come </a:t>
            </a:r>
            <a:r>
              <a:rPr lang="en-US" sz="4000" b="1" spc="3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compromesso</a:t>
            </a:r>
            <a:r>
              <a:rPr lang="en-US" sz="4000" b="1" spc="3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α = 0.05.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449030" y="1907332"/>
            <a:ext cx="13059206" cy="8341568"/>
          </a:xfrm>
          <a:custGeom>
            <a:avLst/>
            <a:gdLst/>
            <a:ahLst/>
            <a:cxnLst/>
            <a:rect l="l" t="t" r="r" b="b"/>
            <a:pathLst>
              <a:path w="13059206" h="8341568">
                <a:moveTo>
                  <a:pt x="0" y="0"/>
                </a:moveTo>
                <a:lnTo>
                  <a:pt x="13059206" y="0"/>
                </a:lnTo>
                <a:lnTo>
                  <a:pt x="13059206" y="8341568"/>
                </a:lnTo>
                <a:lnTo>
                  <a:pt x="0" y="83415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La significatività statistica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376222" y="1831132"/>
            <a:ext cx="16034782" cy="8458348"/>
          </a:xfrm>
          <a:custGeom>
            <a:avLst/>
            <a:gdLst/>
            <a:ahLst/>
            <a:cxnLst/>
            <a:rect l="l" t="t" r="r" b="b"/>
            <a:pathLst>
              <a:path w="16034782" h="8458348">
                <a:moveTo>
                  <a:pt x="0" y="0"/>
                </a:moveTo>
                <a:lnTo>
                  <a:pt x="16034782" y="0"/>
                </a:lnTo>
                <a:lnTo>
                  <a:pt x="16034782" y="8458348"/>
                </a:lnTo>
                <a:lnTo>
                  <a:pt x="0" y="8458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5" name="Freeform 5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6" name="Freeform 6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AutoShape 7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u="none" strike="noStrike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parametrici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0" y="2827520"/>
            <a:ext cx="18287994" cy="6743698"/>
          </a:xfrm>
          <a:custGeom>
            <a:avLst/>
            <a:gdLst/>
            <a:ahLst/>
            <a:cxnLst/>
            <a:rect l="l" t="t" r="r" b="b"/>
            <a:pathLst>
              <a:path w="18287994" h="6743698">
                <a:moveTo>
                  <a:pt x="0" y="0"/>
                </a:moveTo>
                <a:lnTo>
                  <a:pt x="18287994" y="0"/>
                </a:lnTo>
                <a:lnTo>
                  <a:pt x="18287994" y="6743697"/>
                </a:lnTo>
                <a:lnTo>
                  <a:pt x="0" y="67436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u="none" strike="noStrike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non parametrici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022261" y="458404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40"/>
              </a:lnSpc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Eseguire un test statistico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29344" y="2945581"/>
            <a:ext cx="15729956" cy="575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Formulare le ipotesi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Stabilire il livello di significatività e cercare il valore critico associato (in base anche ai gradi di libertà se necessario)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Calcolare la statistica test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Confrontare statistica test e valore critico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Decidere se accettare o rifiutare l’ipotesi nulla</a:t>
            </a:r>
          </a:p>
          <a:p>
            <a:pPr marL="690881" lvl="1" indent="-345440" algn="l">
              <a:lnSpc>
                <a:spcPts val="5760"/>
              </a:lnSpc>
              <a:buFont typeface="Arial"/>
              <a:buChar char="•"/>
            </a:pPr>
            <a:r>
              <a:rPr lang="en-US" sz="3200" b="1" spc="-57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Interpretare il risultato in termini di differenze significative nei valori della variabile dipendente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634181" y="1985228"/>
            <a:ext cx="12794456" cy="8172459"/>
          </a:xfrm>
          <a:custGeom>
            <a:avLst/>
            <a:gdLst/>
            <a:ahLst/>
            <a:cxnLst/>
            <a:rect l="l" t="t" r="r" b="b"/>
            <a:pathLst>
              <a:path w="12794456" h="8172459">
                <a:moveTo>
                  <a:pt x="0" y="0"/>
                </a:moveTo>
                <a:lnTo>
                  <a:pt x="12794456" y="0"/>
                </a:lnTo>
                <a:lnTo>
                  <a:pt x="12794456" y="8172459"/>
                </a:lnTo>
                <a:lnTo>
                  <a:pt x="0" y="81724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T-test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069368" y="4430550"/>
            <a:ext cx="14464631" cy="3968933"/>
          </a:xfrm>
          <a:custGeom>
            <a:avLst/>
            <a:gdLst/>
            <a:ahLst/>
            <a:cxnLst/>
            <a:rect l="l" t="t" r="r" b="b"/>
            <a:pathLst>
              <a:path w="14464631" h="3968933">
                <a:moveTo>
                  <a:pt x="0" y="0"/>
                </a:moveTo>
                <a:lnTo>
                  <a:pt x="14464631" y="0"/>
                </a:lnTo>
                <a:lnTo>
                  <a:pt x="14464631" y="3968933"/>
                </a:lnTo>
                <a:lnTo>
                  <a:pt x="0" y="3968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56" b="-115050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1738534" y="4806987"/>
            <a:ext cx="15126298" cy="3592496"/>
          </a:xfrm>
          <a:custGeom>
            <a:avLst/>
            <a:gdLst/>
            <a:ahLst/>
            <a:cxnLst/>
            <a:rect l="l" t="t" r="r" b="b"/>
            <a:pathLst>
              <a:path w="15126298" h="3592496">
                <a:moveTo>
                  <a:pt x="0" y="0"/>
                </a:moveTo>
                <a:lnTo>
                  <a:pt x="15126299" y="0"/>
                </a:lnTo>
                <a:lnTo>
                  <a:pt x="15126299" y="3592496"/>
                </a:lnTo>
                <a:lnTo>
                  <a:pt x="0" y="3592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T-test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8534" y="2913793"/>
            <a:ext cx="14610015" cy="1492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Confronta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le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medie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di due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gruppi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o la media di un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campione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con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quella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della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popolazione</a:t>
            </a:r>
            <a:endParaRPr lang="en-US" sz="2800" b="1" spc="30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Assunzione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per due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campioni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: le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varianze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dei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due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gruppi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devono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essere</a:t>
            </a:r>
            <a:r>
              <a:rPr lang="en-US" sz="2800" b="1" spc="30" dirty="0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spc="30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omogenee</a:t>
            </a:r>
            <a:endParaRPr lang="en-US" sz="2800" b="1" spc="30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3743678" y="6096476"/>
            <a:ext cx="3443377" cy="2462668"/>
          </a:xfrm>
          <a:custGeom>
            <a:avLst/>
            <a:gdLst/>
            <a:ahLst/>
            <a:cxnLst/>
            <a:rect l="l" t="t" r="r" b="b"/>
            <a:pathLst>
              <a:path w="3443377" h="2462668">
                <a:moveTo>
                  <a:pt x="0" y="0"/>
                </a:moveTo>
                <a:lnTo>
                  <a:pt x="3443377" y="0"/>
                </a:lnTo>
                <a:lnTo>
                  <a:pt x="3443377" y="2462668"/>
                </a:lnTo>
                <a:lnTo>
                  <a:pt x="0" y="2462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3278416" y="5859006"/>
            <a:ext cx="4373903" cy="2937608"/>
          </a:xfrm>
          <a:custGeom>
            <a:avLst/>
            <a:gdLst/>
            <a:ahLst/>
            <a:cxnLst/>
            <a:rect l="l" t="t" r="r" b="b"/>
            <a:pathLst>
              <a:path w="4373903" h="2937608">
                <a:moveTo>
                  <a:pt x="0" y="0"/>
                </a:moveTo>
                <a:lnTo>
                  <a:pt x="4373903" y="0"/>
                </a:lnTo>
                <a:lnTo>
                  <a:pt x="4373903" y="2937608"/>
                </a:lnTo>
                <a:lnTo>
                  <a:pt x="0" y="29376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1028700" y="2506500"/>
            <a:ext cx="4659555" cy="2791438"/>
          </a:xfrm>
          <a:custGeom>
            <a:avLst/>
            <a:gdLst/>
            <a:ahLst/>
            <a:cxnLst/>
            <a:rect l="l" t="t" r="r" b="b"/>
            <a:pathLst>
              <a:path w="4659555" h="2791438">
                <a:moveTo>
                  <a:pt x="0" y="0"/>
                </a:moveTo>
                <a:lnTo>
                  <a:pt x="4659555" y="0"/>
                </a:lnTo>
                <a:lnTo>
                  <a:pt x="4659555" y="2791438"/>
                </a:lnTo>
                <a:lnTo>
                  <a:pt x="0" y="27914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2930821" y="700088"/>
            <a:ext cx="1515424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600"/>
              </a:lnSpc>
              <a:spcBef>
                <a:spcPct val="0"/>
              </a:spcBef>
            </a:pPr>
            <a:r>
              <a:rPr lang="en-US" sz="5500" b="1" spc="5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F per l’omoschedasticità delle varianze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05316" y="2925232"/>
            <a:ext cx="83478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4500" b="1" i="1" spc="42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df</a:t>
            </a:r>
            <a:r>
              <a:rPr lang="en-US" sz="4500" b="1" spc="4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n-1; n-1</a:t>
            </a: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84E38D1D-E50A-5A85-73BB-24295838C7C3}"/>
              </a:ext>
            </a:extLst>
          </p:cNvPr>
          <p:cNvSpPr/>
          <p:nvPr/>
        </p:nvSpPr>
        <p:spPr>
          <a:xfrm>
            <a:off x="11029040" y="6386667"/>
            <a:ext cx="5504959" cy="1957319"/>
          </a:xfrm>
          <a:custGeom>
            <a:avLst/>
            <a:gdLst/>
            <a:ahLst/>
            <a:cxnLst/>
            <a:rect l="l" t="t" r="r" b="b"/>
            <a:pathLst>
              <a:path w="5504959" h="1957319">
                <a:moveTo>
                  <a:pt x="0" y="0"/>
                </a:moveTo>
                <a:lnTo>
                  <a:pt x="5504958" y="0"/>
                </a:lnTo>
                <a:lnTo>
                  <a:pt x="5504958" y="1957319"/>
                </a:lnTo>
                <a:lnTo>
                  <a:pt x="0" y="19573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 dirty="0"/>
          </a:p>
        </p:txBody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2F0DE865-79D5-A8DC-98E1-5DF62BFF4FF8}"/>
              </a:ext>
            </a:extLst>
          </p:cNvPr>
          <p:cNvSpPr/>
          <p:nvPr/>
        </p:nvSpPr>
        <p:spPr>
          <a:xfrm>
            <a:off x="10896600" y="6057900"/>
            <a:ext cx="5504959" cy="2614855"/>
          </a:xfrm>
          <a:custGeom>
            <a:avLst/>
            <a:gdLst/>
            <a:ahLst/>
            <a:cxnLst/>
            <a:rect l="l" t="t" r="r" b="b"/>
            <a:pathLst>
              <a:path w="5504959" h="2614855">
                <a:moveTo>
                  <a:pt x="0" y="0"/>
                </a:moveTo>
                <a:lnTo>
                  <a:pt x="5504958" y="0"/>
                </a:lnTo>
                <a:lnTo>
                  <a:pt x="5504958" y="2614855"/>
                </a:lnTo>
                <a:lnTo>
                  <a:pt x="0" y="2614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722076" y="6114386"/>
            <a:ext cx="6360941" cy="3143914"/>
          </a:xfrm>
          <a:custGeom>
            <a:avLst/>
            <a:gdLst/>
            <a:ahLst/>
            <a:cxnLst/>
            <a:rect l="l" t="t" r="r" b="b"/>
            <a:pathLst>
              <a:path w="6360941" h="3143914">
                <a:moveTo>
                  <a:pt x="0" y="0"/>
                </a:moveTo>
                <a:lnTo>
                  <a:pt x="6360942" y="0"/>
                </a:lnTo>
                <a:lnTo>
                  <a:pt x="6360942" y="3143914"/>
                </a:lnTo>
                <a:lnTo>
                  <a:pt x="0" y="3143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9914374" y="5824708"/>
            <a:ext cx="7344926" cy="3919648"/>
          </a:xfrm>
          <a:custGeom>
            <a:avLst/>
            <a:gdLst/>
            <a:ahLst/>
            <a:cxnLst/>
            <a:rect l="l" t="t" r="r" b="b"/>
            <a:pathLst>
              <a:path w="7344926" h="3919648">
                <a:moveTo>
                  <a:pt x="0" y="0"/>
                </a:moveTo>
                <a:lnTo>
                  <a:pt x="7344926" y="0"/>
                </a:lnTo>
                <a:lnTo>
                  <a:pt x="7344926" y="3919648"/>
                </a:lnTo>
                <a:lnTo>
                  <a:pt x="0" y="3919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2930821" y="700088"/>
            <a:ext cx="15154246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6600"/>
              </a:lnSpc>
              <a:spcBef>
                <a:spcPct val="0"/>
              </a:spcBef>
            </a:pPr>
            <a:r>
              <a:rPr lang="en-US" sz="5500" b="1" spc="5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t di Welch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6187" y="2722632"/>
            <a:ext cx="1842546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 b="1" spc="2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 l’omoschedasticità delle varianza non è confermata, si può usare il t test di Welch</a:t>
            </a:r>
          </a:p>
        </p:txBody>
      </p:sp>
      <p:sp>
        <p:nvSpPr>
          <p:cNvPr id="11" name="Freeform 11"/>
          <p:cNvSpPr/>
          <p:nvPr/>
        </p:nvSpPr>
        <p:spPr>
          <a:xfrm>
            <a:off x="2058315" y="6114386"/>
            <a:ext cx="4973471" cy="3340290"/>
          </a:xfrm>
          <a:custGeom>
            <a:avLst/>
            <a:gdLst/>
            <a:ahLst/>
            <a:cxnLst/>
            <a:rect l="l" t="t" r="r" b="b"/>
            <a:pathLst>
              <a:path w="4973471" h="3340290">
                <a:moveTo>
                  <a:pt x="0" y="0"/>
                </a:moveTo>
                <a:lnTo>
                  <a:pt x="4973471" y="0"/>
                </a:lnTo>
                <a:lnTo>
                  <a:pt x="4973471" y="3340291"/>
                </a:lnTo>
                <a:lnTo>
                  <a:pt x="0" y="3340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769084" y="3604126"/>
            <a:ext cx="7551932" cy="2143116"/>
          </a:xfrm>
          <a:custGeom>
            <a:avLst/>
            <a:gdLst/>
            <a:ahLst/>
            <a:cxnLst/>
            <a:rect l="l" t="t" r="r" b="b"/>
            <a:pathLst>
              <a:path w="7551932" h="2143116">
                <a:moveTo>
                  <a:pt x="0" y="0"/>
                </a:moveTo>
                <a:lnTo>
                  <a:pt x="7551932" y="0"/>
                </a:lnTo>
                <a:lnTo>
                  <a:pt x="7551932" y="2143116"/>
                </a:lnTo>
                <a:lnTo>
                  <a:pt x="0" y="21431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2034991" y="2920851"/>
            <a:ext cx="3602037" cy="979501"/>
          </a:xfrm>
          <a:custGeom>
            <a:avLst/>
            <a:gdLst/>
            <a:ahLst/>
            <a:cxnLst/>
            <a:rect l="l" t="t" r="r" b="b"/>
            <a:pathLst>
              <a:path w="3602037" h="979501">
                <a:moveTo>
                  <a:pt x="0" y="0"/>
                </a:moveTo>
                <a:lnTo>
                  <a:pt x="3602037" y="0"/>
                </a:lnTo>
                <a:lnTo>
                  <a:pt x="3602037" y="979501"/>
                </a:lnTo>
                <a:lnTo>
                  <a:pt x="0" y="979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687113" y="2339044"/>
            <a:ext cx="7551932" cy="2143116"/>
          </a:xfrm>
          <a:custGeom>
            <a:avLst/>
            <a:gdLst/>
            <a:ahLst/>
            <a:cxnLst/>
            <a:rect l="l" t="t" r="r" b="b"/>
            <a:pathLst>
              <a:path w="7551932" h="2143116">
                <a:moveTo>
                  <a:pt x="0" y="0"/>
                </a:moveTo>
                <a:lnTo>
                  <a:pt x="7551931" y="0"/>
                </a:lnTo>
                <a:lnTo>
                  <a:pt x="7551931" y="2143116"/>
                </a:lnTo>
                <a:lnTo>
                  <a:pt x="0" y="21431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632932" y="4920310"/>
            <a:ext cx="5081057" cy="3412548"/>
          </a:xfrm>
          <a:custGeom>
            <a:avLst/>
            <a:gdLst/>
            <a:ahLst/>
            <a:cxnLst/>
            <a:rect l="l" t="t" r="r" b="b"/>
            <a:pathLst>
              <a:path w="5081057" h="3412548">
                <a:moveTo>
                  <a:pt x="0" y="0"/>
                </a:moveTo>
                <a:lnTo>
                  <a:pt x="5081057" y="0"/>
                </a:lnTo>
                <a:lnTo>
                  <a:pt x="5081057" y="3412547"/>
                </a:lnTo>
                <a:lnTo>
                  <a:pt x="0" y="34125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2370339" y="5597314"/>
            <a:ext cx="5504959" cy="1957319"/>
          </a:xfrm>
          <a:custGeom>
            <a:avLst/>
            <a:gdLst/>
            <a:ahLst/>
            <a:cxnLst/>
            <a:rect l="l" t="t" r="r" b="b"/>
            <a:pathLst>
              <a:path w="5504959" h="1957319">
                <a:moveTo>
                  <a:pt x="0" y="0"/>
                </a:moveTo>
                <a:lnTo>
                  <a:pt x="5504958" y="0"/>
                </a:lnTo>
                <a:lnTo>
                  <a:pt x="5504958" y="1957319"/>
                </a:lnTo>
                <a:lnTo>
                  <a:pt x="0" y="19573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6210215" y="5319156"/>
            <a:ext cx="5504959" cy="2614855"/>
          </a:xfrm>
          <a:custGeom>
            <a:avLst/>
            <a:gdLst/>
            <a:ahLst/>
            <a:cxnLst/>
            <a:rect l="l" t="t" r="r" b="b"/>
            <a:pathLst>
              <a:path w="5504959" h="2614855">
                <a:moveTo>
                  <a:pt x="0" y="0"/>
                </a:moveTo>
                <a:lnTo>
                  <a:pt x="5504959" y="0"/>
                </a:lnTo>
                <a:lnTo>
                  <a:pt x="5504959" y="2614855"/>
                </a:lnTo>
                <a:lnTo>
                  <a:pt x="0" y="2614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788459" y="5237034"/>
            <a:ext cx="4770004" cy="2440805"/>
          </a:xfrm>
          <a:custGeom>
            <a:avLst/>
            <a:gdLst/>
            <a:ahLst/>
            <a:cxnLst/>
            <a:rect l="l" t="t" r="r" b="b"/>
            <a:pathLst>
              <a:path w="4770004" h="2440805">
                <a:moveTo>
                  <a:pt x="0" y="0"/>
                </a:moveTo>
                <a:lnTo>
                  <a:pt x="4770004" y="0"/>
                </a:lnTo>
                <a:lnTo>
                  <a:pt x="4770004" y="2440805"/>
                </a:lnTo>
                <a:lnTo>
                  <a:pt x="0" y="2440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036" r="-6838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6322416" y="5481863"/>
            <a:ext cx="5280557" cy="1915321"/>
          </a:xfrm>
          <a:custGeom>
            <a:avLst/>
            <a:gdLst/>
            <a:ahLst/>
            <a:cxnLst/>
            <a:rect l="l" t="t" r="r" b="b"/>
            <a:pathLst>
              <a:path w="5280557" h="1915321">
                <a:moveTo>
                  <a:pt x="0" y="0"/>
                </a:moveTo>
                <a:lnTo>
                  <a:pt x="5280557" y="0"/>
                </a:lnTo>
                <a:lnTo>
                  <a:pt x="5280557" y="1915321"/>
                </a:lnTo>
                <a:lnTo>
                  <a:pt x="0" y="19153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2930821" y="623887"/>
            <a:ext cx="15154246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320"/>
              </a:lnSpc>
              <a:spcBef>
                <a:spcPct val="0"/>
              </a:spcBef>
            </a:pPr>
            <a:r>
              <a:rPr lang="en-US" sz="6100" b="1" spc="5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T-test per due campioni indipendenti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210474" y="5319156"/>
            <a:ext cx="5504959" cy="2614855"/>
          </a:xfrm>
          <a:custGeom>
            <a:avLst/>
            <a:gdLst/>
            <a:ahLst/>
            <a:cxnLst/>
            <a:rect l="l" t="t" r="r" b="b"/>
            <a:pathLst>
              <a:path w="5504959" h="2614855">
                <a:moveTo>
                  <a:pt x="0" y="0"/>
                </a:moveTo>
                <a:lnTo>
                  <a:pt x="5504958" y="0"/>
                </a:lnTo>
                <a:lnTo>
                  <a:pt x="5504958" y="2614855"/>
                </a:lnTo>
                <a:lnTo>
                  <a:pt x="0" y="26148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1028700" y="6089038"/>
            <a:ext cx="7488889" cy="3026236"/>
          </a:xfrm>
          <a:custGeom>
            <a:avLst/>
            <a:gdLst/>
            <a:ahLst/>
            <a:cxnLst/>
            <a:rect l="l" t="t" r="r" b="b"/>
            <a:pathLst>
              <a:path w="7488889" h="3026236">
                <a:moveTo>
                  <a:pt x="0" y="0"/>
                </a:moveTo>
                <a:lnTo>
                  <a:pt x="7488889" y="0"/>
                </a:lnTo>
                <a:lnTo>
                  <a:pt x="7488889" y="3026237"/>
                </a:lnTo>
                <a:lnTo>
                  <a:pt x="0" y="3026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9632972" y="7092608"/>
            <a:ext cx="8452095" cy="767127"/>
          </a:xfrm>
          <a:custGeom>
            <a:avLst/>
            <a:gdLst/>
            <a:ahLst/>
            <a:cxnLst/>
            <a:rect l="l" t="t" r="r" b="b"/>
            <a:pathLst>
              <a:path w="8452095" h="767127">
                <a:moveTo>
                  <a:pt x="0" y="0"/>
                </a:moveTo>
                <a:lnTo>
                  <a:pt x="8452095" y="0"/>
                </a:lnTo>
                <a:lnTo>
                  <a:pt x="8452095" y="767127"/>
                </a:lnTo>
                <a:lnTo>
                  <a:pt x="0" y="7671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797271" y="9425279"/>
            <a:ext cx="11301259" cy="861721"/>
          </a:xfrm>
          <a:custGeom>
            <a:avLst/>
            <a:gdLst/>
            <a:ahLst/>
            <a:cxnLst/>
            <a:rect l="l" t="t" r="r" b="b"/>
            <a:pathLst>
              <a:path w="11301259" h="861721">
                <a:moveTo>
                  <a:pt x="0" y="0"/>
                </a:moveTo>
                <a:lnTo>
                  <a:pt x="11301259" y="0"/>
                </a:lnTo>
                <a:lnTo>
                  <a:pt x="11301259" y="861721"/>
                </a:lnTo>
                <a:lnTo>
                  <a:pt x="0" y="8617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1224518" y="2135025"/>
            <a:ext cx="7085808" cy="3492148"/>
          </a:xfrm>
          <a:custGeom>
            <a:avLst/>
            <a:gdLst/>
            <a:ahLst/>
            <a:cxnLst/>
            <a:rect l="l" t="t" r="r" b="b"/>
            <a:pathLst>
              <a:path w="7085808" h="3492148">
                <a:moveTo>
                  <a:pt x="0" y="0"/>
                </a:moveTo>
                <a:lnTo>
                  <a:pt x="7085808" y="0"/>
                </a:lnTo>
                <a:lnTo>
                  <a:pt x="7085808" y="3492148"/>
                </a:lnTo>
                <a:lnTo>
                  <a:pt x="0" y="34921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93" b="-29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2930821" y="538162"/>
            <a:ext cx="15154246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920"/>
              </a:lnSpc>
              <a:spcBef>
                <a:spcPct val="0"/>
              </a:spcBef>
            </a:pPr>
            <a:r>
              <a:rPr lang="en-US" sz="6600" b="1" spc="6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Test U di Mann-Whitney</a:t>
            </a:r>
          </a:p>
        </p:txBody>
      </p:sp>
      <p:sp>
        <p:nvSpPr>
          <p:cNvPr id="12" name="Freeform 12"/>
          <p:cNvSpPr/>
          <p:nvPr/>
        </p:nvSpPr>
        <p:spPr>
          <a:xfrm>
            <a:off x="935494" y="5761430"/>
            <a:ext cx="7582095" cy="3601495"/>
          </a:xfrm>
          <a:custGeom>
            <a:avLst/>
            <a:gdLst/>
            <a:ahLst/>
            <a:cxnLst/>
            <a:rect l="l" t="t" r="r" b="b"/>
            <a:pathLst>
              <a:path w="7582095" h="3601495">
                <a:moveTo>
                  <a:pt x="0" y="0"/>
                </a:moveTo>
                <a:lnTo>
                  <a:pt x="7582095" y="0"/>
                </a:lnTo>
                <a:lnTo>
                  <a:pt x="7582095" y="3601495"/>
                </a:lnTo>
                <a:lnTo>
                  <a:pt x="0" y="3601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10057833" y="2764012"/>
            <a:ext cx="7201467" cy="2043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499"/>
              </a:lnSpc>
              <a:spcBef>
                <a:spcPct val="0"/>
              </a:spcBef>
            </a:pPr>
            <a:r>
              <a:rPr lang="en-US" sz="3055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Si ordinano i valori in ordine crescente mantenendo separati i gruppi, e si assegnando un rango ad ogni valore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2449030" y="1985228"/>
            <a:ext cx="12883057" cy="8341779"/>
          </a:xfrm>
          <a:custGeom>
            <a:avLst/>
            <a:gdLst/>
            <a:ahLst/>
            <a:cxnLst/>
            <a:rect l="l" t="t" r="r" b="b"/>
            <a:pathLst>
              <a:path w="12883057" h="8341779">
                <a:moveTo>
                  <a:pt x="0" y="0"/>
                </a:moveTo>
                <a:lnTo>
                  <a:pt x="12883057" y="0"/>
                </a:lnTo>
                <a:lnTo>
                  <a:pt x="12883057" y="8341779"/>
                </a:lnTo>
                <a:lnTo>
                  <a:pt x="0" y="8341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Analisi della varianza (ANOVA)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117127" y="2613800"/>
            <a:ext cx="14053745" cy="2893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9"/>
              </a:lnSpc>
            </a:pPr>
            <a:r>
              <a:rPr lang="en-US" sz="3255" b="1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L’ANOVA si basa sul principio della scomposizione della devianza </a:t>
            </a:r>
            <a:r>
              <a:rPr lang="en-US" sz="3255" spc="-55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(sommatoria degli scarti dalla media al quadrato)</a:t>
            </a:r>
            <a:r>
              <a:rPr lang="en-US" sz="3255" b="1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>
              <a:lnSpc>
                <a:spcPts val="5859"/>
              </a:lnSpc>
            </a:pPr>
            <a:endParaRPr lang="en-US" sz="3255" b="1" spc="-55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5499"/>
              </a:lnSpc>
              <a:spcBef>
                <a:spcPct val="0"/>
              </a:spcBef>
            </a:pPr>
            <a:r>
              <a:rPr lang="en-US" sz="3055" b="1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DEVIANZA TOTALE = DEVIANZA BETWEEN + DEVIANZA WITHIN</a:t>
            </a:r>
          </a:p>
        </p:txBody>
      </p:sp>
      <p:sp>
        <p:nvSpPr>
          <p:cNvPr id="8" name="Freeform 8"/>
          <p:cNvSpPr/>
          <p:nvPr/>
        </p:nvSpPr>
        <p:spPr>
          <a:xfrm>
            <a:off x="2634181" y="4496002"/>
            <a:ext cx="13056968" cy="1779012"/>
          </a:xfrm>
          <a:custGeom>
            <a:avLst/>
            <a:gdLst/>
            <a:ahLst/>
            <a:cxnLst/>
            <a:rect l="l" t="t" r="r" b="b"/>
            <a:pathLst>
              <a:path w="13056968" h="1779012">
                <a:moveTo>
                  <a:pt x="0" y="0"/>
                </a:moveTo>
                <a:lnTo>
                  <a:pt x="13056968" y="0"/>
                </a:lnTo>
                <a:lnTo>
                  <a:pt x="13056968" y="1779012"/>
                </a:lnTo>
                <a:lnTo>
                  <a:pt x="0" y="17790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Analisi della varianza (ANOVA)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4100" y="6522664"/>
            <a:ext cx="14897131" cy="3434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499"/>
              </a:lnSpc>
              <a:spcBef>
                <a:spcPct val="0"/>
              </a:spcBef>
            </a:pPr>
            <a:r>
              <a:rPr lang="en-US" sz="3055" b="1" u="none" strike="noStrike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La devianza within (entro i gruppi) rappresenta la variabilità di base o il rumore nei dati. </a:t>
            </a:r>
          </a:p>
          <a:p>
            <a:pPr marL="0" lvl="0" indent="0" algn="just">
              <a:lnSpc>
                <a:spcPts val="5499"/>
              </a:lnSpc>
              <a:spcBef>
                <a:spcPct val="0"/>
              </a:spcBef>
            </a:pPr>
            <a:r>
              <a:rPr lang="en-US" sz="3055" b="1" u="none" strike="noStrike" spc="-54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Se la devianza between (tra i gruppi) è molto più grande della devianza within, ciò indica che esiste una variabilità tra i gruppi che non può essere spiegata solo dal caso.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Analisi della varianza (ANOVA)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17127" y="2764342"/>
            <a:ext cx="14053745" cy="5901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9"/>
              </a:lnSpc>
            </a:pPr>
            <a:endParaRPr/>
          </a:p>
          <a:p>
            <a:pPr algn="l">
              <a:lnSpc>
                <a:spcPts val="5859"/>
              </a:lnSpc>
            </a:pPr>
            <a:r>
              <a:rPr lang="en-US" sz="3255" b="1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Assunzioni dell'ANOVA</a:t>
            </a:r>
          </a:p>
          <a:p>
            <a:pPr marL="702784" lvl="1" indent="-351392" algn="l">
              <a:lnSpc>
                <a:spcPts val="5859"/>
              </a:lnSpc>
              <a:buAutoNum type="arabicPeriod"/>
            </a:pPr>
            <a:r>
              <a:rPr lang="en-US" sz="3255" b="1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Indipendenza delle osservazioni</a:t>
            </a:r>
          </a:p>
          <a:p>
            <a:pPr marL="702784" lvl="1" indent="-351392" algn="l">
              <a:lnSpc>
                <a:spcPts val="5859"/>
              </a:lnSpc>
              <a:spcBef>
                <a:spcPct val="0"/>
              </a:spcBef>
              <a:buAutoNum type="arabicPeriod"/>
            </a:pPr>
            <a:r>
              <a:rPr lang="en-US" sz="3255" b="1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Normalità delle distribuzioni</a:t>
            </a:r>
          </a:p>
          <a:p>
            <a:pPr marL="702784" lvl="1" indent="-351392" algn="l">
              <a:lnSpc>
                <a:spcPts val="5859"/>
              </a:lnSpc>
              <a:spcBef>
                <a:spcPct val="0"/>
              </a:spcBef>
              <a:buAutoNum type="arabicPeriod"/>
            </a:pPr>
            <a:r>
              <a:rPr lang="en-US" sz="3255" b="1" u="none" strike="noStrike" spc="-57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Omogeneità delle varianze (omoschedasticità)</a:t>
            </a:r>
          </a:p>
          <a:p>
            <a:pPr marL="702784" lvl="1" indent="-351392" algn="l">
              <a:lnSpc>
                <a:spcPts val="5859"/>
              </a:lnSpc>
              <a:spcBef>
                <a:spcPct val="0"/>
              </a:spcBef>
              <a:buAutoNum type="arabicPeriod"/>
            </a:pPr>
            <a:r>
              <a:rPr lang="en-US" sz="3255" b="1" u="none" strike="noStrike" spc="-55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Scala di misura quantitativa</a:t>
            </a:r>
          </a:p>
          <a:p>
            <a:pPr marL="702784" lvl="1" indent="-351392" algn="l">
              <a:lnSpc>
                <a:spcPts val="5859"/>
              </a:lnSpc>
              <a:spcBef>
                <a:spcPct val="0"/>
              </a:spcBef>
              <a:buAutoNum type="arabicPeriod"/>
            </a:pPr>
            <a:r>
              <a:rPr lang="en-US" sz="3255" b="1" u="none" strike="noStrike" spc="-57">
                <a:solidFill>
                  <a:srgbClr val="051D40"/>
                </a:solidFill>
                <a:latin typeface="Arimo Bold"/>
                <a:ea typeface="Arimo Bold"/>
                <a:cs typeface="Arimo Bold"/>
                <a:sym typeface="Arimo Bold"/>
              </a:rPr>
              <a:t>Campioni casuali e indipendenti</a:t>
            </a:r>
          </a:p>
          <a:p>
            <a:pPr algn="l">
              <a:lnSpc>
                <a:spcPts val="5859"/>
              </a:lnSpc>
              <a:spcBef>
                <a:spcPct val="0"/>
              </a:spcBef>
            </a:pPr>
            <a:endParaRPr lang="en-US" sz="3255" b="1" u="none" strike="noStrike" spc="-57">
              <a:solidFill>
                <a:srgbClr val="051D4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5733" y="4295185"/>
            <a:ext cx="8676874" cy="1909900"/>
          </a:xfrm>
          <a:custGeom>
            <a:avLst/>
            <a:gdLst/>
            <a:ahLst/>
            <a:cxnLst/>
            <a:rect l="l" t="t" r="r" b="b"/>
            <a:pathLst>
              <a:path w="8676874" h="1909900">
                <a:moveTo>
                  <a:pt x="0" y="0"/>
                </a:moveTo>
                <a:lnTo>
                  <a:pt x="8676874" y="0"/>
                </a:lnTo>
                <a:lnTo>
                  <a:pt x="8676874" y="1909900"/>
                </a:lnTo>
                <a:lnTo>
                  <a:pt x="0" y="19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Freeform 8"/>
          <p:cNvSpPr/>
          <p:nvPr/>
        </p:nvSpPr>
        <p:spPr>
          <a:xfrm>
            <a:off x="9357533" y="4386676"/>
            <a:ext cx="8621367" cy="1714476"/>
          </a:xfrm>
          <a:custGeom>
            <a:avLst/>
            <a:gdLst/>
            <a:ahLst/>
            <a:cxnLst/>
            <a:rect l="l" t="t" r="r" b="b"/>
            <a:pathLst>
              <a:path w="8621367" h="1714476">
                <a:moveTo>
                  <a:pt x="0" y="0"/>
                </a:moveTo>
                <a:lnTo>
                  <a:pt x="8621367" y="0"/>
                </a:lnTo>
                <a:lnTo>
                  <a:pt x="8621367" y="1714476"/>
                </a:lnTo>
                <a:lnTo>
                  <a:pt x="0" y="1714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Freeform 9"/>
          <p:cNvSpPr/>
          <p:nvPr/>
        </p:nvSpPr>
        <p:spPr>
          <a:xfrm>
            <a:off x="8752607" y="6564012"/>
            <a:ext cx="9144000" cy="1460500"/>
          </a:xfrm>
          <a:custGeom>
            <a:avLst/>
            <a:gdLst/>
            <a:ahLst/>
            <a:cxnLst/>
            <a:rect l="l" t="t" r="r" b="b"/>
            <a:pathLst>
              <a:path w="9144000" h="1460500">
                <a:moveTo>
                  <a:pt x="0" y="0"/>
                </a:moveTo>
                <a:lnTo>
                  <a:pt x="9144000" y="0"/>
                </a:lnTo>
                <a:lnTo>
                  <a:pt x="9144000" y="1460500"/>
                </a:lnTo>
                <a:lnTo>
                  <a:pt x="0" y="1460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Freeform 10"/>
          <p:cNvSpPr/>
          <p:nvPr/>
        </p:nvSpPr>
        <p:spPr>
          <a:xfrm>
            <a:off x="209654" y="6396987"/>
            <a:ext cx="8620688" cy="1701870"/>
          </a:xfrm>
          <a:custGeom>
            <a:avLst/>
            <a:gdLst/>
            <a:ahLst/>
            <a:cxnLst/>
            <a:rect l="l" t="t" r="r" b="b"/>
            <a:pathLst>
              <a:path w="8620688" h="1701870">
                <a:moveTo>
                  <a:pt x="0" y="0"/>
                </a:moveTo>
                <a:lnTo>
                  <a:pt x="8620688" y="0"/>
                </a:lnTo>
                <a:lnTo>
                  <a:pt x="8620688" y="1701870"/>
                </a:lnTo>
                <a:lnTo>
                  <a:pt x="0" y="17018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>
          <a:xfrm>
            <a:off x="1859076" y="8442592"/>
            <a:ext cx="7081991" cy="1958070"/>
          </a:xfrm>
          <a:custGeom>
            <a:avLst/>
            <a:gdLst/>
            <a:ahLst/>
            <a:cxnLst/>
            <a:rect l="l" t="t" r="r" b="b"/>
            <a:pathLst>
              <a:path w="7081991" h="1958070">
                <a:moveTo>
                  <a:pt x="0" y="0"/>
                </a:moveTo>
                <a:lnTo>
                  <a:pt x="7081991" y="0"/>
                </a:lnTo>
                <a:lnTo>
                  <a:pt x="7081991" y="1958070"/>
                </a:lnTo>
                <a:lnTo>
                  <a:pt x="0" y="1958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270077" y="2211225"/>
            <a:ext cx="8873932" cy="933178"/>
          </a:xfrm>
          <a:custGeom>
            <a:avLst/>
            <a:gdLst/>
            <a:ahLst/>
            <a:cxnLst/>
            <a:rect l="l" t="t" r="r" b="b"/>
            <a:pathLst>
              <a:path w="8873932" h="933178">
                <a:moveTo>
                  <a:pt x="0" y="0"/>
                </a:moveTo>
                <a:lnTo>
                  <a:pt x="8873932" y="0"/>
                </a:lnTo>
                <a:lnTo>
                  <a:pt x="8873932" y="933178"/>
                </a:lnTo>
                <a:lnTo>
                  <a:pt x="0" y="9331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21765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270077" y="3046443"/>
            <a:ext cx="8873932" cy="1157585"/>
          </a:xfrm>
          <a:custGeom>
            <a:avLst/>
            <a:gdLst/>
            <a:ahLst/>
            <a:cxnLst/>
            <a:rect l="l" t="t" r="r" b="b"/>
            <a:pathLst>
              <a:path w="8873932" h="1157585">
                <a:moveTo>
                  <a:pt x="0" y="0"/>
                </a:moveTo>
                <a:lnTo>
                  <a:pt x="8873932" y="0"/>
                </a:lnTo>
                <a:lnTo>
                  <a:pt x="8873932" y="1157585"/>
                </a:lnTo>
                <a:lnTo>
                  <a:pt x="0" y="11575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56073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209654" y="6300335"/>
            <a:ext cx="8409033" cy="1997145"/>
          </a:xfrm>
          <a:custGeom>
            <a:avLst/>
            <a:gdLst/>
            <a:ahLst/>
            <a:cxnLst/>
            <a:rect l="l" t="t" r="r" b="b"/>
            <a:pathLst>
              <a:path w="8409033" h="1997145">
                <a:moveTo>
                  <a:pt x="0" y="0"/>
                </a:moveTo>
                <a:lnTo>
                  <a:pt x="8409032" y="0"/>
                </a:lnTo>
                <a:lnTo>
                  <a:pt x="8409032" y="1997145"/>
                </a:lnTo>
                <a:lnTo>
                  <a:pt x="0" y="1997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9169073" y="6363987"/>
            <a:ext cx="8621367" cy="2047575"/>
          </a:xfrm>
          <a:custGeom>
            <a:avLst/>
            <a:gdLst/>
            <a:ahLst/>
            <a:cxnLst/>
            <a:rect l="l" t="t" r="r" b="b"/>
            <a:pathLst>
              <a:path w="8621367" h="2047575">
                <a:moveTo>
                  <a:pt x="0" y="0"/>
                </a:moveTo>
                <a:lnTo>
                  <a:pt x="8621367" y="0"/>
                </a:lnTo>
                <a:lnTo>
                  <a:pt x="8621367" y="2047575"/>
                </a:lnTo>
                <a:lnTo>
                  <a:pt x="0" y="2047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209654" y="4204028"/>
            <a:ext cx="8409033" cy="1997145"/>
          </a:xfrm>
          <a:custGeom>
            <a:avLst/>
            <a:gdLst/>
            <a:ahLst/>
            <a:cxnLst/>
            <a:rect l="l" t="t" r="r" b="b"/>
            <a:pathLst>
              <a:path w="8409033" h="1997145">
                <a:moveTo>
                  <a:pt x="0" y="0"/>
                </a:moveTo>
                <a:lnTo>
                  <a:pt x="8409032" y="0"/>
                </a:lnTo>
                <a:lnTo>
                  <a:pt x="8409032" y="1997145"/>
                </a:lnTo>
                <a:lnTo>
                  <a:pt x="0" y="19971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9144009" y="4130200"/>
            <a:ext cx="9004364" cy="2138537"/>
          </a:xfrm>
          <a:custGeom>
            <a:avLst/>
            <a:gdLst/>
            <a:ahLst/>
            <a:cxnLst/>
            <a:rect l="l" t="t" r="r" b="b"/>
            <a:pathLst>
              <a:path w="9004364" h="2138537">
                <a:moveTo>
                  <a:pt x="0" y="0"/>
                </a:moveTo>
                <a:lnTo>
                  <a:pt x="9004364" y="0"/>
                </a:lnTo>
                <a:lnTo>
                  <a:pt x="9004364" y="2138537"/>
                </a:lnTo>
                <a:lnTo>
                  <a:pt x="0" y="2138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Analisi della varianza (ANOVA)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52607" y="2649239"/>
            <a:ext cx="8347813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4500" b="1" i="1" spc="42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df</a:t>
            </a:r>
            <a:r>
              <a:rPr lang="en-US" sz="4500" b="1" spc="4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 N-k; k-1</a:t>
            </a:r>
          </a:p>
        </p:txBody>
      </p:sp>
      <p:sp>
        <p:nvSpPr>
          <p:cNvPr id="20" name="Freeform 20"/>
          <p:cNvSpPr/>
          <p:nvPr/>
        </p:nvSpPr>
        <p:spPr>
          <a:xfrm>
            <a:off x="2075367" y="8564180"/>
            <a:ext cx="6649409" cy="1579235"/>
          </a:xfrm>
          <a:custGeom>
            <a:avLst/>
            <a:gdLst/>
            <a:ahLst/>
            <a:cxnLst/>
            <a:rect l="l" t="t" r="r" b="b"/>
            <a:pathLst>
              <a:path w="6649409" h="1579235">
                <a:moveTo>
                  <a:pt x="0" y="0"/>
                </a:moveTo>
                <a:lnTo>
                  <a:pt x="6649409" y="0"/>
                </a:lnTo>
                <a:lnTo>
                  <a:pt x="6649409" y="1579235"/>
                </a:lnTo>
                <a:lnTo>
                  <a:pt x="0" y="15792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 dirty="0" err="1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Jamovi</a:t>
            </a:r>
            <a:endParaRPr lang="en-US" sz="7200" b="1" spc="67" dirty="0">
              <a:solidFill>
                <a:srgbClr val="29475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172200" y="8274749"/>
            <a:ext cx="7261537" cy="809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199"/>
              </a:lnSpc>
              <a:spcBef>
                <a:spcPct val="0"/>
              </a:spcBef>
            </a:pPr>
            <a:r>
              <a:rPr lang="en-US" sz="3999" spc="-71" dirty="0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https://www.jamovi.org/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7F8CC36-0847-B456-0FFA-17C801C0A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2532" y="2247900"/>
            <a:ext cx="14373300" cy="50894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33999" y="2"/>
            <a:ext cx="1754010" cy="1589972"/>
          </a:xfrm>
          <a:custGeom>
            <a:avLst/>
            <a:gdLst/>
            <a:ahLst/>
            <a:cxnLst/>
            <a:rect l="l" t="t" r="r" b="b"/>
            <a:pathLst>
              <a:path w="1754010" h="1589972">
                <a:moveTo>
                  <a:pt x="0" y="0"/>
                </a:moveTo>
                <a:lnTo>
                  <a:pt x="1754010" y="0"/>
                </a:lnTo>
                <a:lnTo>
                  <a:pt x="1754010" y="1589972"/>
                </a:lnTo>
                <a:lnTo>
                  <a:pt x="0" y="15899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9493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2334724" y="1716832"/>
            <a:ext cx="16068600" cy="228600"/>
            <a:chOff x="0" y="0"/>
            <a:chExt cx="21424800" cy="304800"/>
          </a:xfrm>
        </p:grpSpPr>
        <p:sp>
          <p:nvSpPr>
            <p:cNvPr id="4" name="Freeform 4"/>
            <p:cNvSpPr/>
            <p:nvPr/>
          </p:nvSpPr>
          <p:spPr>
            <a:xfrm>
              <a:off x="152400" y="0"/>
              <a:ext cx="21119973" cy="304800"/>
            </a:xfrm>
            <a:custGeom>
              <a:avLst/>
              <a:gdLst/>
              <a:ahLst/>
              <a:cxnLst/>
              <a:rect l="l" t="t" r="r" b="b"/>
              <a:pathLst>
                <a:path w="21119973" h="304800">
                  <a:moveTo>
                    <a:pt x="0" y="0"/>
                  </a:moveTo>
                  <a:lnTo>
                    <a:pt x="21119973" y="0"/>
                  </a:lnTo>
                  <a:lnTo>
                    <a:pt x="21119973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8EB4E3"/>
            </a:solid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5" name="Freeform 5"/>
          <p:cNvSpPr/>
          <p:nvPr/>
        </p:nvSpPr>
        <p:spPr>
          <a:xfrm>
            <a:off x="6" y="111408"/>
            <a:ext cx="2449024" cy="1873820"/>
          </a:xfrm>
          <a:custGeom>
            <a:avLst/>
            <a:gdLst/>
            <a:ahLst/>
            <a:cxnLst/>
            <a:rect l="l" t="t" r="r" b="b"/>
            <a:pathLst>
              <a:path w="2449024" h="1873820">
                <a:moveTo>
                  <a:pt x="0" y="0"/>
                </a:moveTo>
                <a:lnTo>
                  <a:pt x="2449024" y="0"/>
                </a:lnTo>
                <a:lnTo>
                  <a:pt x="2449024" y="1873820"/>
                </a:lnTo>
                <a:lnTo>
                  <a:pt x="0" y="1873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AutoShape 6"/>
          <p:cNvSpPr/>
          <p:nvPr/>
        </p:nvSpPr>
        <p:spPr>
          <a:xfrm rot="9582">
            <a:off x="2634155" y="2030775"/>
            <a:ext cx="13291702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5448604" y="2211225"/>
            <a:ext cx="12636463" cy="8071541"/>
          </a:xfrm>
          <a:custGeom>
            <a:avLst/>
            <a:gdLst/>
            <a:ahLst/>
            <a:cxnLst/>
            <a:rect l="l" t="t" r="r" b="b"/>
            <a:pathLst>
              <a:path w="12636463" h="8071541">
                <a:moveTo>
                  <a:pt x="0" y="0"/>
                </a:moveTo>
                <a:lnTo>
                  <a:pt x="12636463" y="0"/>
                </a:lnTo>
                <a:lnTo>
                  <a:pt x="12636463" y="8071541"/>
                </a:lnTo>
                <a:lnTo>
                  <a:pt x="0" y="80715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2930821" y="452437"/>
            <a:ext cx="15154246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640"/>
              </a:lnSpc>
              <a:spcBef>
                <a:spcPct val="0"/>
              </a:spcBef>
            </a:pPr>
            <a:r>
              <a:rPr lang="en-US" sz="7200" b="1" spc="67">
                <a:solidFill>
                  <a:srgbClr val="29475F"/>
                </a:solidFill>
                <a:latin typeface="Arimo Bold"/>
                <a:ea typeface="Arimo Bold"/>
                <a:cs typeface="Arimo Bold"/>
                <a:sym typeface="Arimo Bold"/>
              </a:rPr>
              <a:t>Il p-value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0838" y="3124201"/>
            <a:ext cx="4939965" cy="613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u="none" strike="noStrike" spc="-51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Il p-value è la probabilità di ottenere un valore della statistica calcolata pari o più estremo rispetto a quello osservato, assumendo che l’ipotesi nulla (H0​) sia vera.</a:t>
            </a:r>
          </a:p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endParaRPr lang="en-US" sz="3000" u="none" strike="noStrike" spc="-51">
              <a:solidFill>
                <a:srgbClr val="051D4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0" lvl="0" indent="0" algn="l">
              <a:lnSpc>
                <a:spcPts val="5400"/>
              </a:lnSpc>
              <a:spcBef>
                <a:spcPct val="0"/>
              </a:spcBef>
            </a:pPr>
            <a:r>
              <a:rPr lang="en-US" sz="3000" u="none" strike="noStrike" spc="-53">
                <a:solidFill>
                  <a:srgbClr val="051D40"/>
                </a:solidFill>
                <a:latin typeface="Arimo"/>
                <a:ea typeface="Arimo"/>
                <a:cs typeface="Arimo"/>
                <a:sym typeface="Arimo"/>
              </a:rPr>
              <a:t>Se è minore di α, si rifiuta l’ipotesi nulla.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97B2CC0A46AC4F9AEEC319A5D986DD" ma:contentTypeVersion="10" ma:contentTypeDescription="Create a new document." ma:contentTypeScope="" ma:versionID="fd6c5cdf4c04523cb90ee097eca25b6a">
  <xsd:schema xmlns:xsd="http://www.w3.org/2001/XMLSchema" xmlns:xs="http://www.w3.org/2001/XMLSchema" xmlns:p="http://schemas.microsoft.com/office/2006/metadata/properties" xmlns:ns2="3db59c47-87aa-4831-b38a-f5382a46a091" targetNamespace="http://schemas.microsoft.com/office/2006/metadata/properties" ma:root="true" ma:fieldsID="7ff837e1e3a805b8ba48165f1b08a8c8" ns2:_="">
    <xsd:import namespace="3db59c47-87aa-4831-b38a-f5382a46a0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b59c47-87aa-4831-b38a-f5382a46a0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CDF59E-1565-4600-9A01-25C5F4B56A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880EFF-94C4-4801-A989-F3E2E651CDA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E057B95-9107-4C4B-9FEF-D36B4F49287B}"/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1799</Words>
  <Application>Microsoft Office PowerPoint</Application>
  <PresentationFormat>Custom</PresentationFormat>
  <Paragraphs>238</Paragraphs>
  <Slides>42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L'inferenza e I test statistici</dc:title>
  <cp:lastModifiedBy>RAFFAELLA ESPOSITO</cp:lastModifiedBy>
  <cp:revision>6</cp:revision>
  <dcterms:created xsi:type="dcterms:W3CDTF">2006-08-16T00:00:00Z</dcterms:created>
  <dcterms:modified xsi:type="dcterms:W3CDTF">2026-07-18T15:54:42Z</dcterms:modified>
  <dc:identifier>DAGXNxh6nkc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0x010100F597B2CC0A46AC4F9AEEC319A5D986DD</vt:lpwstr>
  </property>
</Properties>
</file>